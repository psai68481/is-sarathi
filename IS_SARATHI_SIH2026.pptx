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pavan Pabba" userId="aa2da44c34799f3d" providerId="LiveId" clId="{A4916B64-A7D5-45E9-B613-1457CE872AC0}"/>
    <pc:docChg chg="modSld">
      <pc:chgData name="Saipavan Pabba" userId="aa2da44c34799f3d" providerId="LiveId" clId="{A4916B64-A7D5-45E9-B613-1457CE872AC0}" dt="2026-09-09T04:07:27.267" v="2" actId="1076"/>
      <pc:docMkLst>
        <pc:docMk/>
      </pc:docMkLst>
      <pc:sldChg chg="modSp mod">
        <pc:chgData name="Saipavan Pabba" userId="aa2da44c34799f3d" providerId="LiveId" clId="{A4916B64-A7D5-45E9-B613-1457CE872AC0}" dt="2026-09-09T04:07:27.267" v="2" actId="1076"/>
        <pc:sldMkLst>
          <pc:docMk/>
          <pc:sldMk cId="0" sldId="260"/>
        </pc:sldMkLst>
        <pc:spChg chg="mod">
          <ac:chgData name="Saipavan Pabba" userId="aa2da44c34799f3d" providerId="LiveId" clId="{A4916B64-A7D5-45E9-B613-1457CE872AC0}" dt="2026-09-09T04:07:21.730" v="1" actId="1076"/>
          <ac:spMkLst>
            <pc:docMk/>
            <pc:sldMk cId="0" sldId="260"/>
            <ac:spMk id="45" creationId="{00000000-0000-0000-0000-000000000000}"/>
          </ac:spMkLst>
        </pc:spChg>
        <pc:spChg chg="mod">
          <ac:chgData name="Saipavan Pabba" userId="aa2da44c34799f3d" providerId="LiveId" clId="{A4916B64-A7D5-45E9-B613-1457CE872AC0}" dt="2026-09-09T04:07:27.267" v="2" actId="1076"/>
          <ac:spMkLst>
            <pc:docMk/>
            <pc:sldMk cId="0" sldId="260"/>
            <ac:spMk id="4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share</c:v>
                </c:pt>
              </c:strCache>
            </c:strRef>
          </c:tx>
          <c:dPt>
            <c:idx val="0"/>
            <c:bubble3D val="0"/>
            <c:spPr>
              <a:solidFill>
                <a:srgbClr val="0B5CAB"/>
              </a:solidFill>
            </c:spPr>
            <c:extLst>
              <c:ext xmlns:c16="http://schemas.microsoft.com/office/drawing/2014/chart" uri="{C3380CC4-5D6E-409C-BE32-E72D297353CC}">
                <c16:uniqueId val="{00000001-4A95-49F5-9B0A-95FE8E46C50B}"/>
              </c:ext>
            </c:extLst>
          </c:dPt>
          <c:dPt>
            <c:idx val="1"/>
            <c:bubble3D val="0"/>
            <c:spPr>
              <a:solidFill>
                <a:srgbClr val="1E7D32"/>
              </a:solidFill>
            </c:spPr>
            <c:extLst>
              <c:ext xmlns:c16="http://schemas.microsoft.com/office/drawing/2014/chart" uri="{C3380CC4-5D6E-409C-BE32-E72D297353CC}">
                <c16:uniqueId val="{00000003-4A95-49F5-9B0A-95FE8E46C50B}"/>
              </c:ext>
            </c:extLst>
          </c:dPt>
          <c:dPt>
            <c:idx val="2"/>
            <c:bubble3D val="0"/>
            <c:spPr>
              <a:solidFill>
                <a:srgbClr val="D97A21"/>
              </a:solidFill>
            </c:spPr>
            <c:extLst>
              <c:ext xmlns:c16="http://schemas.microsoft.com/office/drawing/2014/chart" uri="{C3380CC4-5D6E-409C-BE32-E72D297353CC}">
                <c16:uniqueId val="{00000005-4A95-49F5-9B0A-95FE8E46C50B}"/>
              </c:ext>
            </c:extLst>
          </c:dPt>
          <c:dPt>
            <c:idx val="3"/>
            <c:bubble3D val="0"/>
            <c:spPr>
              <a:solidFill>
                <a:srgbClr val="555F6B"/>
              </a:solidFill>
            </c:spPr>
            <c:extLst>
              <c:ext xmlns:c16="http://schemas.microsoft.com/office/drawing/2014/chart" uri="{C3380CC4-5D6E-409C-BE32-E72D297353CC}">
                <c16:uniqueId val="{00000007-4A95-49F5-9B0A-95FE8E46C50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Knowledge Base</c:v>
                </c:pt>
                <c:pt idx="1">
                  <c:v>Cloud</c:v>
                </c:pt>
                <c:pt idx="2">
                  <c:v>Backend &amp; AI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24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A95-49F5-9B0A-95FE8E46C50B}"/>
            </c:ext>
          </c:extLst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64008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1005840"/>
            <a:ext cx="1371600" cy="1371600"/>
          </a:xfrm>
          <a:prstGeom prst="ellipse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21440" y="5394960"/>
            <a:ext cx="1005840" cy="1005840"/>
          </a:xfrm>
          <a:prstGeom prst="ellipse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5669280"/>
            <a:ext cx="822960" cy="822960"/>
          </a:xfrm>
          <a:prstGeom prst="ellipse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6400" b="1" i="0">
                <a:solidFill>
                  <a:srgbClr val="FFFFFF"/>
                </a:solidFill>
                <a:latin typeface="Calibri"/>
              </a:rPr>
              <a:t>IS-SARATHI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0" i="0">
                <a:solidFill>
                  <a:srgbClr val="BFD9F2"/>
                </a:solidFill>
                <a:latin typeface="Calibri"/>
              </a:rPr>
              <a:t>AI-Powered Semantic Search for Indian Standards in Public Procurement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Team Sarathi   |   Smart India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3327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F4B400"/>
                </a:solidFill>
                <a:latin typeface="Calibri"/>
              </a:rPr>
              <a:t>Problem: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procurement officers struggle to map plain-language tender requirements to the correct Indian Standard (IS) codes — slowing tenders, causing disputes, and blocking MSME participation.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F4B400"/>
                </a:solidFill>
                <a:latin typeface="Calibri"/>
              </a:rPr>
              <a:t>Pitch: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ask in plain language (even Hindi, Tamil, Bengali…), get the right IS code with an auditable citation — in under 2 seconds.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28016"/>
            <a:ext cx="1463040" cy="5852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78440" y="14630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5CAB"/>
                </a:solidFill>
                <a:latin typeface="Calibri"/>
              </a:rPr>
              <a:t>SIH 2026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55F6B"/>
                </a:solidFill>
                <a:latin typeface="Calibri"/>
              </a:rPr>
              <a:t>Team Sarathi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55F6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F6B"/>
                </a:solidFill>
                <a:latin typeface="Calibri"/>
              </a:rPr>
              <a:t>IS-SARATHI  |  SIH 2026 Idea Submission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43000"/>
            <a:ext cx="553212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325880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5CAB"/>
                </a:solidFill>
                <a:latin typeface="Calibri"/>
              </a:rPr>
              <a:t>How IS-SARATHI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09928"/>
            <a:ext cx="4983480" cy="434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0B5CAB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AI-powered RAG engine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converts plain-language requirements into ranked Indian Standards — no IS-code memorisation needed.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0B5CAB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Semantic + metadata search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combines meaning-based retrieval with ICS code, status and certification filtering for precise matches.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0B5CAB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Grounded citations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— every recommendation quotes the exact retrieved scope text, so answers are auditable and traceable to BIS sources.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0B5CAB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Version &amp; certification flagging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— surfaces outdated editions and marks mandatory schemes (ISI / CRS / Hallmarking).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0B5CAB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Related-standards discovery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for testing, safety and installation requirements linked to each standard.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0B5CAB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Confidence-based fallback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— low-confidence queries are routed to the official BIS portal instead of guessing.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143000"/>
            <a:ext cx="553212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325880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5CAB"/>
                </a:solidFill>
                <a:latin typeface="Calibri"/>
              </a:rPr>
              <a:t>It Addresses the Problem: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09928"/>
            <a:ext cx="4983480" cy="434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 i="0">
                <a:solidFill>
                  <a:srgbClr val="1E7D32"/>
                </a:solidFill>
                <a:latin typeface="Calibri"/>
              </a:rPr>
              <a:t>✔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Prevents procurement errors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— answers are always traceable to current, official Indian Standards.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 i="0">
                <a:solidFill>
                  <a:srgbClr val="1E7D32"/>
                </a:solidFill>
                <a:latin typeface="Calibri"/>
              </a:rPr>
              <a:t>✔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Scalable &amp; reliable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— instant knowledge-base updates via re-indexing; no model retraining needed.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 i="0">
                <a:solidFill>
                  <a:srgbClr val="1E7D32"/>
                </a:solidFill>
                <a:latin typeface="Calibri"/>
              </a:rPr>
              <a:t>✔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Empowers MSMEs &amp; engineers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— fast, accessible standards discovery without deep domain expertise.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 i="0">
                <a:solidFill>
                  <a:srgbClr val="1E7D32"/>
                </a:solidFill>
                <a:latin typeface="Calibri"/>
              </a:rPr>
              <a:t>✔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Builds trust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— grounded citations plus confidence scoring and honest fallbacks, never silent guesses.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 i="0">
                <a:solidFill>
                  <a:srgbClr val="1E7D32"/>
                </a:solidFill>
                <a:latin typeface="Calibri"/>
              </a:rPr>
              <a:t>✔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Works in Indian languages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— multilingual query pipeline with English fallback for regional officers and vendors.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0368" y="352044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0368" y="356616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IS-SARATHI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BFD9F2"/>
                </a:solidFill>
                <a:latin typeface="Calibri"/>
              </a:rPr>
              <a:t>RAG +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TECHNICAL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28016"/>
            <a:ext cx="1463040" cy="5852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78440" y="14630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5CAB"/>
                </a:solidFill>
                <a:latin typeface="Calibri"/>
              </a:rPr>
              <a:t>SIH 2026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55F6B"/>
                </a:solidFill>
                <a:latin typeface="Calibri"/>
              </a:rPr>
              <a:t>Team Sarathi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55F6B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F6B"/>
                </a:solidFill>
                <a:latin typeface="Calibri"/>
              </a:rPr>
              <a:t>IS-SARATHI  |  SIH 2026 Idea Submission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97280"/>
            <a:ext cx="363717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234440"/>
            <a:ext cx="317997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5CAB"/>
                </a:solidFill>
                <a:latin typeface="Calibri"/>
              </a:rPr>
              <a:t>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00200"/>
            <a:ext cx="3179978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Frontend: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Next.js · React · TypeScript · Tailwind CSS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Backend: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Python · FastAPI · Uvicorn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Vector Store: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FAISS + Sentence-Transformers (multilingual)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AI / LLM: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OpenAI API / Groq SDK · LangChain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Database: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PostgreSQL (metadata, logs, user data)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Deploy &amp; Dev: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Vercel · Render · Docker  |  Git / GitHub (version control)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44952"/>
            <a:ext cx="317997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1">
                <a:solidFill>
                  <a:srgbClr val="C02B2B"/>
                </a:solidFill>
                <a:latin typeface="Calibri"/>
              </a:rPr>
              <a:t>Modular, retrieval-based — scales without retraining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7258" y="1097280"/>
            <a:ext cx="363717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5858" y="1234440"/>
            <a:ext cx="317997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5CAB"/>
                </a:solidFill>
                <a:latin typeface="Calibri"/>
              </a:rPr>
              <a:t>Working Prototype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5858" y="1600200"/>
            <a:ext cx="3179978" cy="292608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05858" y="1600200"/>
            <a:ext cx="1748988" cy="292608"/>
          </a:xfrm>
          <a:prstGeom prst="roundRect">
            <a:avLst>
              <a:gd name="adj" fmla="val 50000"/>
            </a:avLst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5858" y="1609344"/>
            <a:ext cx="31799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Progress: 55%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5858" y="2057400"/>
            <a:ext cx="317997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E7D32"/>
                </a:solidFill>
                <a:latin typeface="Calibri"/>
              </a:rPr>
              <a:t>✔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Natural-language &amp; multilingual queries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E7D32"/>
                </a:solidFill>
                <a:latin typeface="Calibri"/>
              </a:rPr>
              <a:t>✔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ICS + status metadata filtering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E7D32"/>
                </a:solidFill>
                <a:latin typeface="Calibri"/>
              </a:rPr>
              <a:t>✔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Related-standards discovery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E7D32"/>
                </a:solidFill>
                <a:latin typeface="Calibri"/>
              </a:rPr>
              <a:t>✔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Grounded citations with scope-text quotes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1E7D32"/>
                </a:solidFill>
                <a:latin typeface="Calibri"/>
              </a:rPr>
              <a:t>✔ 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Confidence-based fallback to BIS portal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05858" y="2971800"/>
            <a:ext cx="3179978" cy="329184"/>
          </a:xfrm>
          <a:prstGeom prst="roundRect">
            <a:avLst>
              <a:gd name="adj" fmla="val 50000"/>
            </a:avLst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5858" y="2980944"/>
            <a:ext cx="317997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Demo video: [insert clickable link]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43036" y="1097280"/>
            <a:ext cx="363717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71636" y="1234440"/>
            <a:ext cx="317997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5CAB"/>
                </a:solidFill>
                <a:latin typeface="Calibri"/>
              </a:rPr>
              <a:t>Pilot Scope &amp;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1636" y="1645920"/>
            <a:ext cx="3179978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500" b="1" i="0">
                <a:solidFill>
                  <a:srgbClr val="0B5CAB"/>
                </a:solidFill>
                <a:latin typeface="Calibri"/>
              </a:rPr>
              <a:t>40–80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— curated IS standards in pilot KB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500" b="1" i="0">
                <a:solidFill>
                  <a:srgbClr val="0B5CAB"/>
                </a:solidFill>
                <a:latin typeface="Calibri"/>
              </a:rPr>
              <a:t>5–10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— ranked candidates per query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500" b="1" i="0">
                <a:solidFill>
                  <a:srgbClr val="0B5CAB"/>
                </a:solidFill>
                <a:latin typeface="Calibri"/>
              </a:rPr>
              <a:t>&lt;2s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— end-to-end response time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500" b="1" i="0">
                <a:solidFill>
                  <a:srgbClr val="0B5CAB"/>
                </a:solidFill>
                <a:latin typeface="Calibri"/>
              </a:rPr>
              <a:t>RAG + FAISS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— retrieval engine, no model training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500" b="1" i="0">
                <a:solidFill>
                  <a:srgbClr val="0B5CAB"/>
                </a:solidFill>
                <a:latin typeface="Calibri"/>
              </a:rPr>
              <a:t>Multilingual 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— Hindi, Tamil, Bengali + English 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1636" y="2862072"/>
            <a:ext cx="317997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1">
                <a:solidFill>
                  <a:srgbClr val="555F6B"/>
                </a:solidFill>
                <a:latin typeface="Calibri"/>
              </a:rPr>
              <a:t>Roadmap: pilot corpus → full BIS catalogue (20,000+ IS codes) via automated digitisation.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657600"/>
            <a:ext cx="11368735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376732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5CAB"/>
                </a:solidFill>
                <a:latin typeface="Calibri"/>
              </a:rPr>
              <a:t>System Flow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160520"/>
            <a:ext cx="2084831" cy="141732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 w="12700">
            <a:solidFill>
              <a:srgbClr val="0B5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" y="4270248"/>
            <a:ext cx="19385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B5CAB"/>
                </a:solidFill>
                <a:latin typeface="Calibri"/>
              </a:rPr>
              <a:t>1. 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4617720"/>
            <a:ext cx="186537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Officer types plain-language / multilingual requirement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784347" y="4709160"/>
            <a:ext cx="246888" cy="292608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035807" y="4160520"/>
            <a:ext cx="2084831" cy="141732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 w="12700">
            <a:solidFill>
              <a:srgbClr val="08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08959" y="4270248"/>
            <a:ext cx="19385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83A6E"/>
                </a:solidFill>
                <a:latin typeface="Calibri"/>
              </a:rPr>
              <a:t>2. Retrieve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45535" y="4617720"/>
            <a:ext cx="186537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FAISS semantic search over curated IS knowledge base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134354" y="4709160"/>
            <a:ext cx="246888" cy="292608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385814" y="4160520"/>
            <a:ext cx="2084831" cy="141732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 w="12700">
            <a:solidFill>
              <a:srgbClr val="0B5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58966" y="4270248"/>
            <a:ext cx="19385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B5CAB"/>
                </a:solidFill>
                <a:latin typeface="Calibri"/>
              </a:rPr>
              <a:t>3. Filter &amp; Re-rank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95542" y="4617720"/>
            <a:ext cx="186537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ICS, status &amp; certification filters + LLM re-ranking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7484361" y="4709160"/>
            <a:ext cx="246888" cy="292608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735821" y="4160520"/>
            <a:ext cx="2084831" cy="1417320"/>
          </a:xfrm>
          <a:prstGeom prst="roundRect">
            <a:avLst>
              <a:gd name="adj" fmla="val 8000"/>
            </a:avLst>
          </a:prstGeom>
          <a:solidFill>
            <a:srgbClr val="E4F3E7"/>
          </a:solidFill>
          <a:ln w="12700">
            <a:solidFill>
              <a:srgbClr val="1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08973" y="4270248"/>
            <a:ext cx="19385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7D32"/>
                </a:solidFill>
                <a:latin typeface="Calibri"/>
              </a:rPr>
              <a:t>4. Grounded Answer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5549" y="4617720"/>
            <a:ext cx="186537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Ranked IS codes + quoted scope text + confidence score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834368" y="4709160"/>
            <a:ext cx="246888" cy="292608"/>
          </a:xfrm>
          <a:prstGeom prst="rightArrow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085828" y="4160520"/>
            <a:ext cx="2084831" cy="1417320"/>
          </a:xfrm>
          <a:prstGeom prst="roundRect">
            <a:avLst>
              <a:gd name="adj" fmla="val 8000"/>
            </a:avLst>
          </a:prstGeom>
          <a:solidFill>
            <a:srgbClr val="FBEEDC"/>
          </a:solidFill>
          <a:ln w="12700">
            <a:solidFill>
              <a:srgbClr val="D97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58980" y="4270248"/>
            <a:ext cx="19385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97A21"/>
                </a:solidFill>
                <a:latin typeface="Calibri"/>
              </a:rPr>
              <a:t>5. Fallback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95556" y="4617720"/>
            <a:ext cx="186537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Low confidence → direct link to official BIS portal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5687568"/>
            <a:ext cx="10820095" cy="384048"/>
          </a:xfrm>
          <a:prstGeom prst="roundRect">
            <a:avLst>
              <a:gd name="adj" fmla="val 3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8680" y="5724144"/>
            <a:ext cx="106372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83A6E"/>
                </a:solidFill>
                <a:latin typeface="Calibri"/>
              </a:rPr>
              <a:t>Admin dashboard: </a:t>
            </a:r>
            <a:r>
              <a:rPr sz="1100" b="0" i="0">
                <a:solidFill>
                  <a:srgbClr val="555F6B"/>
                </a:solidFill>
                <a:latin typeface="Calibri"/>
              </a:rPr>
              <a:t>knowledge-base curation · accuracy monitoring · standards update log · ICS taxonomy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28016"/>
            <a:ext cx="1463040" cy="5852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78440" y="14630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5CAB"/>
                </a:solidFill>
                <a:latin typeface="Calibri"/>
              </a:rPr>
              <a:t>SIH 2026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55F6B"/>
                </a:solidFill>
                <a:latin typeface="Calibri"/>
              </a:rPr>
              <a:t>Team Sarathi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55F6B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F6B"/>
                </a:solidFill>
                <a:latin typeface="Calibri"/>
              </a:rPr>
              <a:t>IS-SARATHI  |  SIH 2026 Idea Submission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97280"/>
            <a:ext cx="363717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234440"/>
            <a:ext cx="317997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5CAB"/>
                </a:solidFill>
                <a:latin typeface="Calibri"/>
              </a:rPr>
              <a:t>Financials (pilot-year cost)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00200"/>
            <a:ext cx="128016" cy="128016"/>
          </a:xfrm>
          <a:prstGeom prst="roundRect">
            <a:avLst>
              <a:gd name="adj" fmla="val 8000"/>
            </a:avLst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297881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Knowledge Base (curation &amp; verification)</a:t>
            </a:r>
          </a:p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1000" b="1" i="0">
                <a:solidFill>
                  <a:srgbClr val="0B5CAB"/>
                </a:solidFill>
                <a:latin typeface="Calibri"/>
              </a:rPr>
              <a:t>₹1.1L – ₹1.3L  (40%)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03120"/>
            <a:ext cx="128016" cy="128016"/>
          </a:xfrm>
          <a:prstGeom prst="roundRect">
            <a:avLst>
              <a:gd name="adj" fmla="val 8000"/>
            </a:avLst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2066544"/>
            <a:ext cx="297881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Cloud (compute, storage, security)</a:t>
            </a:r>
          </a:p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1000" b="1" i="0">
                <a:solidFill>
                  <a:srgbClr val="0B5CAB"/>
                </a:solidFill>
                <a:latin typeface="Calibri"/>
              </a:rPr>
              <a:t>₹70K – ₹80K  (25%)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06040"/>
            <a:ext cx="128016" cy="128016"/>
          </a:xfrm>
          <a:prstGeom prst="roundRect">
            <a:avLst>
              <a:gd name="adj" fmla="val 8000"/>
            </a:avLst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2569464"/>
            <a:ext cx="297881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Backend &amp; AI (LLM APIs, vector DB)</a:t>
            </a:r>
          </a:p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1000" b="1" i="0">
                <a:solidFill>
                  <a:srgbClr val="0B5CAB"/>
                </a:solidFill>
                <a:latin typeface="Calibri"/>
              </a:rPr>
              <a:t>₹68K – ₹75K  (24%)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08960"/>
            <a:ext cx="128016" cy="128016"/>
          </a:xfrm>
          <a:prstGeom prst="roundRect">
            <a:avLst>
              <a:gd name="adj" fmla="val 8000"/>
            </a:avLst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072384"/>
            <a:ext cx="297881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Others (audits, compliance updates)</a:t>
            </a:r>
          </a:p>
          <a:p>
            <a:pPr algn="l">
              <a:lnSpc>
                <a:spcPct val="98000"/>
              </a:lnSpc>
              <a:spcAft>
                <a:spcPts val="100"/>
              </a:spcAft>
            </a:pPr>
            <a:r>
              <a:rPr sz="1000" b="1" i="0">
                <a:solidFill>
                  <a:srgbClr val="0B5CAB"/>
                </a:solidFill>
                <a:latin typeface="Calibri"/>
              </a:rPr>
              <a:t>₹28K – ₹35K  (11%)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1051560" y="3630168"/>
          <a:ext cx="228600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" y="4818887"/>
            <a:ext cx="317997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1">
                <a:solidFill>
                  <a:srgbClr val="555F6B"/>
                </a:solidFill>
                <a:latin typeface="Calibri"/>
              </a:rPr>
              <a:t>Cost split totals 100% of the ~₹3.0L pilot budget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7258" y="1097280"/>
            <a:ext cx="363717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05858" y="1234440"/>
            <a:ext cx="317997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5CAB"/>
                </a:solidFill>
                <a:latin typeface="Calibri"/>
              </a:rPr>
              <a:t>Feasibility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5858" y="1600200"/>
            <a:ext cx="3179978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▸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Proven RAG architecture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— FAISS + sentence-transformers for reliable multilingual retrieval.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▸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Pilot-scale corpus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— 40–80 priority standards digitised in Phase 1; automated pipeline scales to BIS's full 20,000+ code catalogue [Ref 2].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▸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Multilingual pipeline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— tested across major Indian languages with English fallback.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▸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Low infrastructure cost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— lightweight vector search + pay-per-use LLM APIs; response under 2s.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▸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Open-source stack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— FastAPI, FAISS, LangChain; no proprietary licensing.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43036" y="1097280"/>
            <a:ext cx="363717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71636" y="1234440"/>
            <a:ext cx="317997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5CAB"/>
                </a:solidFill>
                <a:latin typeface="Calibri"/>
              </a:rPr>
              <a:t>Viability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1636" y="1600200"/>
            <a:ext cx="3179978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150" b="1" i="0">
                <a:solidFill>
                  <a:srgbClr val="1E7D32"/>
                </a:solidFill>
                <a:latin typeface="Calibri"/>
              </a:rPr>
              <a:t>▸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Massive market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— India's public procurement is ~$500B annually (20–22% of GDP) [Ref 1]; standards compliance is mandatory across sectors.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150" b="1" i="0">
                <a:solidFill>
                  <a:srgbClr val="1E7D32"/>
                </a:solidFill>
                <a:latin typeface="Calibri"/>
              </a:rPr>
              <a:t>▸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Policy alignment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— supports BIS and Dept. of Consumer Affairs digital-governance and e-procurement modernisation goals.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150" b="1" i="0">
                <a:solidFill>
                  <a:srgbClr val="1E7D32"/>
                </a:solidFill>
                <a:latin typeface="Calibri"/>
              </a:rPr>
              <a:t>▸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Cuts training burden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— new officers find the right standard without domain expertise.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150" b="1" i="0">
                <a:solidFill>
                  <a:srgbClr val="1E7D32"/>
                </a:solidFill>
                <a:latin typeface="Calibri"/>
              </a:rPr>
              <a:t>▸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Extensible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— private procurement and export-compliance use cases beyond government.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150" b="1" i="0">
                <a:solidFill>
                  <a:srgbClr val="1E7D32"/>
                </a:solidFill>
                <a:latin typeface="Calibri"/>
              </a:rPr>
              <a:t>▸  </a:t>
            </a:r>
            <a:r>
              <a:rPr sz="1150" b="1" i="0">
                <a:solidFill>
                  <a:srgbClr val="1A1A1A"/>
                </a:solidFill>
                <a:latin typeface="Calibri"/>
              </a:rPr>
              <a:t>Revenue model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— SaaS licensing for procurement portals, PSU partnerships, per-query API access, training &amp; consulting.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212080"/>
            <a:ext cx="11368735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28523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02B2B"/>
                </a:solidFill>
                <a:latin typeface="Calibri"/>
              </a:rPr>
              <a:t>Challenges and Mitigation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623560"/>
            <a:ext cx="5090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D97A21"/>
                </a:solidFill>
                <a:latin typeface="Calibri"/>
              </a:rPr>
              <a:t>⚠ </a:t>
            </a:r>
            <a:r>
              <a:rPr sz="1050" b="1" i="0">
                <a:solidFill>
                  <a:srgbClr val="1A1A1A"/>
                </a:solidFill>
                <a:latin typeface="Calibri"/>
              </a:rPr>
              <a:t>Incomplete / outdated standards data  </a:t>
            </a:r>
            <a:r>
              <a:rPr sz="1050" b="1" i="0">
                <a:solidFill>
                  <a:srgbClr val="1E7D32"/>
                </a:solidFill>
                <a:latin typeface="Calibri"/>
              </a:rPr>
              <a:t>→ </a:t>
            </a:r>
            <a:r>
              <a:rPr sz="1050" b="0" i="0">
                <a:solidFill>
                  <a:srgbClr val="555F6B"/>
                </a:solidFill>
                <a:latin typeface="Calibri"/>
              </a:rPr>
              <a:t>Hand-curated dataset + scheduled version &amp; amendment audits keep records current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5847" y="5623560"/>
            <a:ext cx="5090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D97A21"/>
                </a:solidFill>
                <a:latin typeface="Calibri"/>
              </a:rPr>
              <a:t>⚠ </a:t>
            </a:r>
            <a:r>
              <a:rPr sz="1050" b="1" i="0">
                <a:solidFill>
                  <a:srgbClr val="1A1A1A"/>
                </a:solidFill>
                <a:latin typeface="Calibri"/>
              </a:rPr>
              <a:t>LLM may hallucinate wrong IS codes  </a:t>
            </a:r>
            <a:r>
              <a:rPr sz="1050" b="1" i="0">
                <a:solidFill>
                  <a:srgbClr val="1E7D32"/>
                </a:solidFill>
                <a:latin typeface="Calibri"/>
              </a:rPr>
              <a:t>→ </a:t>
            </a:r>
            <a:r>
              <a:rPr sz="1050" b="0" i="0">
                <a:solidFill>
                  <a:srgbClr val="555F6B"/>
                </a:solidFill>
                <a:latin typeface="Calibri"/>
              </a:rPr>
              <a:t>Retrieval-grounded answers quote source scope text only — fabrication risk minimised, not zero; every answer carries a verifiable citation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007608"/>
            <a:ext cx="5090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D97A21"/>
                </a:solidFill>
                <a:latin typeface="Calibri"/>
              </a:rPr>
              <a:t>⚠ </a:t>
            </a:r>
            <a:r>
              <a:rPr sz="1050" b="1" i="0">
                <a:solidFill>
                  <a:srgbClr val="1A1A1A"/>
                </a:solidFill>
                <a:latin typeface="Calibri"/>
              </a:rPr>
              <a:t>Regional-language accuracy varies  </a:t>
            </a:r>
            <a:r>
              <a:rPr sz="1050" b="1" i="0">
                <a:solidFill>
                  <a:srgbClr val="1E7D32"/>
                </a:solidFill>
                <a:latin typeface="Calibri"/>
              </a:rPr>
              <a:t>→ </a:t>
            </a:r>
            <a:r>
              <a:rPr sz="1050" b="0" i="0">
                <a:solidFill>
                  <a:srgbClr val="555F6B"/>
                </a:solidFill>
                <a:latin typeface="Calibri"/>
              </a:rPr>
              <a:t>Translation layer tested across major Indian languages, with fallback to English originals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5847" y="6007608"/>
            <a:ext cx="5090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D97A21"/>
                </a:solidFill>
                <a:latin typeface="Calibri"/>
              </a:rPr>
              <a:t>⚠ </a:t>
            </a:r>
            <a:r>
              <a:rPr sz="1050" b="1" i="0">
                <a:solidFill>
                  <a:srgbClr val="1A1A1A"/>
                </a:solidFill>
                <a:latin typeface="Calibri"/>
              </a:rPr>
              <a:t>Slow government adoption cycles  </a:t>
            </a:r>
            <a:r>
              <a:rPr sz="1050" b="1" i="0">
                <a:solidFill>
                  <a:srgbClr val="1E7D32"/>
                </a:solidFill>
                <a:latin typeface="Calibri"/>
              </a:rPr>
              <a:t>→ </a:t>
            </a:r>
            <a:r>
              <a:rPr sz="1050" b="0" i="0">
                <a:solidFill>
                  <a:srgbClr val="555F6B"/>
                </a:solidFill>
                <a:latin typeface="Calibri"/>
              </a:rPr>
              <a:t>Pilot partnership with a BIS regional office to validate before wider rollout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IMPACT AND BENEFITS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28016"/>
            <a:ext cx="1463040" cy="5852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78440" y="14630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5CAB"/>
                </a:solidFill>
                <a:latin typeface="Calibri"/>
              </a:rPr>
              <a:t>SIH 2026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55F6B"/>
                </a:solidFill>
                <a:latin typeface="Calibri"/>
              </a:rPr>
              <a:t>Team Sarathi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55F6B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F6B"/>
                </a:solidFill>
                <a:latin typeface="Calibri"/>
              </a:rPr>
              <a:t>IS-SARATHI  |  SIH 2026 Idea Submission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97280"/>
            <a:ext cx="5547207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234440"/>
            <a:ext cx="4998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C02B2B"/>
                </a:solidFill>
                <a:latin typeface="Calibri"/>
              </a:rPr>
              <a:t>IMPACT — the problem today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19072"/>
            <a:ext cx="128016" cy="128016"/>
          </a:xfrm>
          <a:prstGeom prst="roundRect">
            <a:avLst>
              <a:gd name="adj" fmla="val 8000"/>
            </a:avLst>
          </a:prstGeom>
          <a:solidFill>
            <a:srgbClr val="C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1691640"/>
            <a:ext cx="47242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Slow manual lookup: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Manual standard lookup slows procurement speed by an estimated 30–40% across government tenders*.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95144"/>
            <a:ext cx="128016" cy="128016"/>
          </a:xfrm>
          <a:prstGeom prst="roundRect">
            <a:avLst>
              <a:gd name="adj" fmla="val 8000"/>
            </a:avLst>
          </a:prstGeom>
          <a:solidFill>
            <a:srgbClr val="C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267712"/>
            <a:ext cx="47242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Wrong or outdated citations: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Outdated editions cited in tenders cause disputes and rework during evaluation*.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71216"/>
            <a:ext cx="128016" cy="128016"/>
          </a:xfrm>
          <a:prstGeom prst="roundRect">
            <a:avLst>
              <a:gd name="adj" fmla="val 8000"/>
            </a:avLst>
          </a:prstGeom>
          <a:solidFill>
            <a:srgbClr val="C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843784"/>
            <a:ext cx="47242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Digital divide: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Manual search fails in low-digital-literacy settings common among MSMEs and smaller vendors.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47288"/>
            <a:ext cx="128016" cy="128016"/>
          </a:xfrm>
          <a:prstGeom prst="roundRect">
            <a:avLst>
              <a:gd name="adj" fmla="val 8000"/>
            </a:avLst>
          </a:prstGeom>
          <a:solidFill>
            <a:srgbClr val="C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419856"/>
            <a:ext cx="47242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Real money at stake: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India's public procurement market is ~$500B annually [Ref 1] — errors carry real fiscal cost.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023360"/>
            <a:ext cx="128016" cy="128016"/>
          </a:xfrm>
          <a:prstGeom prst="roundRect">
            <a:avLst>
              <a:gd name="adj" fmla="val 8000"/>
            </a:avLst>
          </a:prstGeom>
          <a:solidFill>
            <a:srgbClr val="C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995928"/>
            <a:ext cx="47242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Compliance loss: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Ambiguous specifications are estimated to cut vendor compliance accuracy by 15–20%*.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99432"/>
            <a:ext cx="128016" cy="128016"/>
          </a:xfrm>
          <a:prstGeom prst="roundRect">
            <a:avLst>
              <a:gd name="adj" fmla="val 8000"/>
            </a:avLst>
          </a:prstGeom>
          <a:solidFill>
            <a:srgbClr val="C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47242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Tender delays: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Standards disputes contribute to delays in an estimated 25% of tenders*.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175504"/>
            <a:ext cx="128016" cy="128016"/>
          </a:xfrm>
          <a:prstGeom prst="roundRect">
            <a:avLst>
              <a:gd name="adj" fmla="val 8000"/>
            </a:avLst>
          </a:prstGeom>
          <a:solidFill>
            <a:srgbClr val="C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148072"/>
            <a:ext cx="47242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Knowledge gap: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The gap spans 20,000+ published IS codes [Ref 2] across dozens of sectors.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833872"/>
            <a:ext cx="49985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1">
                <a:solidFill>
                  <a:srgbClr val="555F6B"/>
                </a:solidFill>
                <a:latin typeface="Calibri"/>
              </a:rPr>
              <a:t>*Team estimates from pilot user interviews (n=25) — to be validated in Phase 1.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007" y="1097280"/>
            <a:ext cx="5547207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07327" y="1234440"/>
            <a:ext cx="4998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E7D32"/>
                </a:solidFill>
                <a:latin typeface="Calibri"/>
              </a:rPr>
              <a:t>BENEFITS — who gains what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07327" y="1719072"/>
            <a:ext cx="128016" cy="128016"/>
          </a:xfrm>
          <a:prstGeom prst="roundRect">
            <a:avLst>
              <a:gd name="adj" fmla="val 8000"/>
            </a:avLst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35927" y="1691640"/>
            <a:ext cx="47242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Procurement officers: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Faster, confident standard selection with grounded citations.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07327" y="2249424"/>
            <a:ext cx="128016" cy="128016"/>
          </a:xfrm>
          <a:prstGeom prst="roundRect">
            <a:avLst>
              <a:gd name="adj" fmla="val 8000"/>
            </a:avLst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35927" y="2221992"/>
            <a:ext cx="47242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Engineers &amp; MSMEs: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Plain-language search removes the need for BIS expertise.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07327" y="2779776"/>
            <a:ext cx="128016" cy="128016"/>
          </a:xfrm>
          <a:prstGeom prst="roundRect">
            <a:avLst>
              <a:gd name="adj" fmla="val 8000"/>
            </a:avLst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35927" y="2752344"/>
            <a:ext cx="47242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Tender committees: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Reduced disputes and rework; fewer compliance errors.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07327" y="3310128"/>
            <a:ext cx="128016" cy="128016"/>
          </a:xfrm>
          <a:prstGeom prst="roundRect">
            <a:avLst>
              <a:gd name="adj" fmla="val 8000"/>
            </a:avLst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35927" y="3282696"/>
            <a:ext cx="47242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BIS &amp; Ministry: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Digital governance aligned with e-procurement modernisation goals.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07327" y="3840480"/>
            <a:ext cx="128016" cy="128016"/>
          </a:xfrm>
          <a:prstGeom prst="roundRect">
            <a:avLst>
              <a:gd name="adj" fmla="val 8000"/>
            </a:avLst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35927" y="3813048"/>
            <a:ext cx="47242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Government &amp; PSUs: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Standardised, auditable procurement decisions; review time down ~40%*.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07327" y="4370832"/>
            <a:ext cx="128016" cy="128016"/>
          </a:xfrm>
          <a:prstGeom prst="roundRect">
            <a:avLst>
              <a:gd name="adj" fmla="val 8000"/>
            </a:avLst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35927" y="4343400"/>
            <a:ext cx="47242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Small vendors: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Easier compliance access, levelling the playing field for MSMEs.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07327" y="4901184"/>
            <a:ext cx="128016" cy="128016"/>
          </a:xfrm>
          <a:prstGeom prst="roundRect">
            <a:avLst>
              <a:gd name="adj" fmla="val 8000"/>
            </a:avLst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35927" y="4873752"/>
            <a:ext cx="47242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Training institutes: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Faster onboarding of new procurement staff via self-serve search.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07327" y="5431536"/>
            <a:ext cx="128016" cy="128016"/>
          </a:xfrm>
          <a:prstGeom prst="roundRect">
            <a:avLst>
              <a:gd name="adj" fmla="val 8000"/>
            </a:avLst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35927" y="5404104"/>
            <a:ext cx="47242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Cross-department reach: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Amplifies standardisation across ministries.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12592" y="31242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918909" y="3406027"/>
            <a:ext cx="314097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0" i="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RESEARCH AND 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28016"/>
            <a:ext cx="1463040" cy="5852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78440" y="14630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5CAB"/>
                </a:solidFill>
                <a:latin typeface="Calibri"/>
              </a:rPr>
              <a:t>SIH 2026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55F6B"/>
                </a:solidFill>
                <a:latin typeface="Calibri"/>
              </a:rPr>
              <a:t>Team Sarathi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0" y="64739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55F6B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F6B"/>
                </a:solidFill>
                <a:latin typeface="Calibri"/>
              </a:rPr>
              <a:t>IS-SARATHI  |  SIH 2026 Idea Submission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97280"/>
            <a:ext cx="5547207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261872"/>
            <a:ext cx="49985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5CAB"/>
                </a:solidFill>
                <a:latin typeface="Calibri"/>
              </a:rPr>
              <a:t>Existing Systems &amp; Gap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627632"/>
            <a:ext cx="4998567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▸ </a:t>
            </a:r>
            <a:r>
              <a:rPr sz="1150" b="1" i="0">
                <a:solidFill>
                  <a:srgbClr val="083A6E"/>
                </a:solidFill>
                <a:latin typeface="Calibri"/>
              </a:rPr>
              <a:t>BIS Manakonline Portal: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Requires exact IS number or navigating deep ICS hierarchies; no plain-language or intent search for non-experts.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40864"/>
            <a:ext cx="4998567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▸ </a:t>
            </a:r>
            <a:r>
              <a:rPr sz="1150" b="1" i="0">
                <a:solidFill>
                  <a:srgbClr val="083A6E"/>
                </a:solidFill>
                <a:latin typeface="Calibri"/>
              </a:rPr>
              <a:t>GeM Keyword Search: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Limited to exact string matches; fails on descriptive technical specifications or regional language queries.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54096"/>
            <a:ext cx="4998567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▸ </a:t>
            </a:r>
            <a:r>
              <a:rPr sz="1150" b="1" i="0">
                <a:solidFill>
                  <a:srgbClr val="083A6E"/>
                </a:solidFill>
                <a:latin typeface="Calibri"/>
              </a:rPr>
              <a:t>General-Purpose LLMs: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Prone to hallucinating obsolete or non-existent IS codes; lack real-time ground truth and verifiable clause citations.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67328"/>
            <a:ext cx="4998567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i="0">
                <a:solidFill>
                  <a:srgbClr val="1E7D32"/>
                </a:solidFill>
                <a:latin typeface="Calibri"/>
              </a:rPr>
              <a:t>★ </a:t>
            </a:r>
            <a:r>
              <a:rPr sz="1150" b="1" i="0">
                <a:solidFill>
                  <a:srgbClr val="083A6E"/>
                </a:solidFill>
                <a:latin typeface="Calibri"/>
              </a:rPr>
              <a:t>IS-SARATHI Differentiator: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Combines multilingual semantic embeddings with grounded RAG to guarantee auditable, clause-level BIS citations under 2s.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097280"/>
            <a:ext cx="5547207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327" y="1261872"/>
            <a:ext cx="49985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5CAB"/>
                </a:solidFill>
                <a:latin typeface="Calibri"/>
              </a:rPr>
              <a:t>Research Literature &amp; Data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1627632"/>
            <a:ext cx="4998567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▸ </a:t>
            </a:r>
            <a:r>
              <a:rPr sz="1150" b="1" i="0">
                <a:solidFill>
                  <a:srgbClr val="083A6E"/>
                </a:solidFill>
                <a:latin typeface="Calibri"/>
              </a:rPr>
              <a:t>[Ref 1] Ministry of Finance / World Bank Report: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Public Procurement in India: Assessment of Market Size (~20–22% of GDP, ~$500B annually) and standardization bottlenecks.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2340864"/>
            <a:ext cx="4998567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▸ </a:t>
            </a:r>
            <a:r>
              <a:rPr sz="1150" b="1" i="0">
                <a:solidFill>
                  <a:srgbClr val="083A6E"/>
                </a:solidFill>
                <a:latin typeface="Calibri"/>
              </a:rPr>
              <a:t>[Ref 2] Bureau of Indian Standards (BIS):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Official Standards Catalogue &amp; Manakonline Database (20,000+ published standards across 14 division councils and ICS taxonomy).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054096"/>
            <a:ext cx="4998567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▸ </a:t>
            </a:r>
            <a:r>
              <a:rPr sz="1150" b="1" i="0">
                <a:solidFill>
                  <a:srgbClr val="083A6E"/>
                </a:solidFill>
                <a:latin typeface="Calibri"/>
              </a:rPr>
              <a:t>[Ref 3] Lewis et al. (NeurIPS):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Retrieval-Augmented Generation for Knowledge-Intensive NLP Tasks — foundational architecture for eliminating LLM hallucinations.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3767328"/>
            <a:ext cx="4998567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 i="0">
                <a:solidFill>
                  <a:srgbClr val="0B5CAB"/>
                </a:solidFill>
                <a:latin typeface="Calibri"/>
              </a:rPr>
              <a:t>▸ </a:t>
            </a:r>
            <a:r>
              <a:rPr sz="1150" b="1" i="0">
                <a:solidFill>
                  <a:srgbClr val="083A6E"/>
                </a:solidFill>
                <a:latin typeface="Calibri"/>
              </a:rPr>
              <a:t>[Ref 4] Reimers &amp; Gurevych (EMNLP): </a:t>
            </a:r>
            <a:r>
              <a:rPr sz="1100" b="0" i="0">
                <a:solidFill>
                  <a:srgbClr val="1A1A1A"/>
                </a:solidFill>
                <a:latin typeface="Calibri"/>
              </a:rPr>
              <a:t>Sentence-BERT: Sentence Embeddings using Siamese BERT-Networks — basis for high-speed multilingual vector similarity search.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754880"/>
            <a:ext cx="11368735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882896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5CAB"/>
                </a:solidFill>
                <a:latin typeface="Calibri"/>
              </a:rPr>
              <a:t>Policy Alignment &amp; Technical Foundation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193792"/>
            <a:ext cx="51357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50" b="1" i="0">
                <a:solidFill>
                  <a:srgbClr val="1E7D32"/>
                </a:solidFill>
                <a:latin typeface="Calibri"/>
              </a:rPr>
              <a:t>✔ </a:t>
            </a:r>
            <a:r>
              <a:rPr sz="1050" b="1" i="0">
                <a:solidFill>
                  <a:srgbClr val="083A6E"/>
                </a:solidFill>
                <a:latin typeface="Calibri"/>
              </a:rPr>
              <a:t>Digital India &amp; e-Governance:  </a:t>
            </a:r>
            <a:r>
              <a:rPr sz="1000" b="0" i="0">
                <a:solidFill>
                  <a:srgbClr val="555F6B"/>
                </a:solidFill>
                <a:latin typeface="Calibri"/>
              </a:rPr>
              <a:t>Directly supports the modernization of public e-procurement (GeM / CPPP) and transparent standard enforcement.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7" y="5193792"/>
            <a:ext cx="51357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50" b="1" i="0">
                <a:solidFill>
                  <a:srgbClr val="1E7D32"/>
                </a:solidFill>
                <a:latin typeface="Calibri"/>
              </a:rPr>
              <a:t>✔ </a:t>
            </a:r>
            <a:r>
              <a:rPr sz="1050" b="1" i="0">
                <a:solidFill>
                  <a:srgbClr val="083A6E"/>
                </a:solidFill>
                <a:latin typeface="Calibri"/>
              </a:rPr>
              <a:t>Make in India &amp; MSME Growth:  </a:t>
            </a:r>
            <a:r>
              <a:rPr sz="1000" b="0" i="0">
                <a:solidFill>
                  <a:srgbClr val="555F6B"/>
                </a:solidFill>
                <a:latin typeface="Calibri"/>
              </a:rPr>
              <a:t>Lowers compliance barriers for small enterprises by democratizing access to complex technical standards.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705856"/>
            <a:ext cx="51357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50" b="1" i="0">
                <a:solidFill>
                  <a:srgbClr val="1E7D32"/>
                </a:solidFill>
                <a:latin typeface="Calibri"/>
              </a:rPr>
              <a:t>✔ </a:t>
            </a:r>
            <a:r>
              <a:rPr sz="1050" b="1" i="0">
                <a:solidFill>
                  <a:srgbClr val="083A6E"/>
                </a:solidFill>
                <a:latin typeface="Calibri"/>
              </a:rPr>
              <a:t>Open Standards &amp; Toolchain:  </a:t>
            </a:r>
            <a:r>
              <a:rPr sz="1000" b="0" i="0">
                <a:solidFill>
                  <a:srgbClr val="555F6B"/>
                </a:solidFill>
                <a:latin typeface="Calibri"/>
              </a:rPr>
              <a:t>Built on open-source FAISS, FastAPI, LangChain, and PostgreSQL — modular, auditable, and self-hostable on sovereign cloud infra.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5847" y="5705856"/>
            <a:ext cx="51357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50" b="1" i="0">
                <a:solidFill>
                  <a:srgbClr val="1E7D32"/>
                </a:solidFill>
                <a:latin typeface="Calibri"/>
              </a:rPr>
              <a:t>✔ </a:t>
            </a:r>
            <a:r>
              <a:rPr sz="1050" b="1" i="0">
                <a:solidFill>
                  <a:srgbClr val="083A6E"/>
                </a:solidFill>
                <a:latin typeface="Calibri"/>
              </a:rPr>
              <a:t>Sovereign Data Governance:  </a:t>
            </a:r>
            <a:r>
              <a:rPr sz="1000" b="0" i="0">
                <a:solidFill>
                  <a:srgbClr val="555F6B"/>
                </a:solidFill>
                <a:latin typeface="Calibri"/>
              </a:rPr>
              <a:t>All standards indexes and query telemetry reside within domestic infrastructure compliant with DPDP Act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1531</Words>
  <Application>Microsoft Office PowerPoint</Application>
  <PresentationFormat>Widescreen</PresentationFormat>
  <Paragraphs>142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Saipavan Pabba</cp:lastModifiedBy>
  <cp:revision>1</cp:revision>
  <dcterms:created xsi:type="dcterms:W3CDTF">2013-01-27T09:14:16Z</dcterms:created>
  <dcterms:modified xsi:type="dcterms:W3CDTF">2026-09-09T04:07:33Z</dcterms:modified>
  <cp:category/>
</cp:coreProperties>
</file>