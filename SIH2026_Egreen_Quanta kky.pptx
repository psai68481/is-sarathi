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8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751"/>
    <a:srgbClr val="9BBB59"/>
    <a:srgbClr val="39B0D4"/>
    <a:srgbClr val="727272"/>
    <a:srgbClr val="010000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5E0B9F-4759-44E8-BE6B-BEA04E1AD55B}" v="26" dt="2026-09-05T15:12:02.7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pavan Pabba" userId="aa2da44c34799f3d" providerId="LiveId" clId="{A4916B64-A7D5-45E9-B613-1457CE872AC0}"/>
    <pc:docChg chg="undo custSel modSld">
      <pc:chgData name="Saipavan Pabba" userId="aa2da44c34799f3d" providerId="LiveId" clId="{A4916B64-A7D5-45E9-B613-1457CE872AC0}" dt="2026-09-05T15:15:49.762" v="225" actId="20577"/>
      <pc:docMkLst>
        <pc:docMk/>
      </pc:docMkLst>
      <pc:sldChg chg="addSp modSp mod">
        <pc:chgData name="Saipavan Pabba" userId="aa2da44c34799f3d" providerId="LiveId" clId="{A4916B64-A7D5-45E9-B613-1457CE872AC0}" dt="2026-09-05T15:02:24.930" v="142" actId="113"/>
        <pc:sldMkLst>
          <pc:docMk/>
          <pc:sldMk cId="0" sldId="281"/>
        </pc:sldMkLst>
        <pc:spChg chg="mod">
          <ac:chgData name="Saipavan Pabba" userId="aa2da44c34799f3d" providerId="LiveId" clId="{A4916B64-A7D5-45E9-B613-1457CE872AC0}" dt="2026-09-05T15:01:28.590" v="133" actId="14100"/>
          <ac:spMkLst>
            <pc:docMk/>
            <pc:sldMk cId="0" sldId="281"/>
            <ac:spMk id="8" creationId="{FCA95D82-1FF1-46FD-01F7-180275BD8496}"/>
          </ac:spMkLst>
        </pc:spChg>
        <pc:spChg chg="add mod">
          <ac:chgData name="Saipavan Pabba" userId="aa2da44c34799f3d" providerId="LiveId" clId="{A4916B64-A7D5-45E9-B613-1457CE872AC0}" dt="2026-09-05T15:00:49.903" v="126" actId="571"/>
          <ac:spMkLst>
            <pc:docMk/>
            <pc:sldMk cId="0" sldId="281"/>
            <ac:spMk id="19" creationId="{33A75A4C-97F1-8161-87FF-CEF6B301F0A3}"/>
          </ac:spMkLst>
        </pc:spChg>
        <pc:spChg chg="mod">
          <ac:chgData name="Saipavan Pabba" userId="aa2da44c34799f3d" providerId="LiveId" clId="{A4916B64-A7D5-45E9-B613-1457CE872AC0}" dt="2026-09-05T15:00:41.279" v="122" actId="1076"/>
          <ac:spMkLst>
            <pc:docMk/>
            <pc:sldMk cId="0" sldId="281"/>
            <ac:spMk id="20" creationId="{6202A4A9-BBF6-988E-B588-9202DC928F67}"/>
          </ac:spMkLst>
        </pc:spChg>
        <pc:spChg chg="mod">
          <ac:chgData name="Saipavan Pabba" userId="aa2da44c34799f3d" providerId="LiveId" clId="{A4916B64-A7D5-45E9-B613-1457CE872AC0}" dt="2026-09-05T15:00:45.919" v="124" actId="1076"/>
          <ac:spMkLst>
            <pc:docMk/>
            <pc:sldMk cId="0" sldId="281"/>
            <ac:spMk id="21" creationId="{3A38D7C4-6BF5-9C01-9359-CF36DF561D7A}"/>
          </ac:spMkLst>
        </pc:spChg>
        <pc:spChg chg="mod">
          <ac:chgData name="Saipavan Pabba" userId="aa2da44c34799f3d" providerId="LiveId" clId="{A4916B64-A7D5-45E9-B613-1457CE872AC0}" dt="2026-09-05T15:02:24.930" v="142" actId="113"/>
          <ac:spMkLst>
            <pc:docMk/>
            <pc:sldMk cId="0" sldId="281"/>
            <ac:spMk id="22" creationId="{9B02EB02-6D4A-2769-90EF-FCA4A25AC4CD}"/>
          </ac:spMkLst>
        </pc:spChg>
        <pc:picChg chg="mod">
          <ac:chgData name="Saipavan Pabba" userId="aa2da44c34799f3d" providerId="LiveId" clId="{A4916B64-A7D5-45E9-B613-1457CE872AC0}" dt="2026-09-05T15:00:59.635" v="128" actId="1076"/>
          <ac:picMkLst>
            <pc:docMk/>
            <pc:sldMk cId="0" sldId="281"/>
            <ac:picMk id="24" creationId="{82B07559-301B-46B0-0BE9-5B30902E54B9}"/>
          </ac:picMkLst>
        </pc:picChg>
      </pc:sldChg>
      <pc:sldChg chg="modSp">
        <pc:chgData name="Saipavan Pabba" userId="aa2da44c34799f3d" providerId="LiveId" clId="{A4916B64-A7D5-45E9-B613-1457CE872AC0}" dt="2026-09-05T15:03:40.293" v="147"/>
        <pc:sldMkLst>
          <pc:docMk/>
          <pc:sldMk cId="0" sldId="290"/>
        </pc:sldMkLst>
        <pc:spChg chg="mod">
          <ac:chgData name="Saipavan Pabba" userId="aa2da44c34799f3d" providerId="LiveId" clId="{A4916B64-A7D5-45E9-B613-1457CE872AC0}" dt="2026-09-05T15:03:40.293" v="147"/>
          <ac:spMkLst>
            <pc:docMk/>
            <pc:sldMk cId="0" sldId="290"/>
            <ac:spMk id="20" creationId="{14F6A355-4C18-290E-5E12-B8E1070187F6}"/>
          </ac:spMkLst>
        </pc:spChg>
      </pc:sldChg>
      <pc:sldChg chg="modSp mod">
        <pc:chgData name="Saipavan Pabba" userId="aa2da44c34799f3d" providerId="LiveId" clId="{A4916B64-A7D5-45E9-B613-1457CE872AC0}" dt="2026-09-05T15:06:55.686" v="165" actId="255"/>
        <pc:sldMkLst>
          <pc:docMk/>
          <pc:sldMk cId="3753387913" sldId="293"/>
        </pc:sldMkLst>
        <pc:spChg chg="mod">
          <ac:chgData name="Saipavan Pabba" userId="aa2da44c34799f3d" providerId="LiveId" clId="{A4916B64-A7D5-45E9-B613-1457CE872AC0}" dt="2026-09-05T15:04:39.241" v="152" actId="113"/>
          <ac:spMkLst>
            <pc:docMk/>
            <pc:sldMk cId="3753387913" sldId="293"/>
            <ac:spMk id="3" creationId="{4149E682-95E0-906C-0FFF-C1756534906B}"/>
          </ac:spMkLst>
        </pc:spChg>
        <pc:spChg chg="mod">
          <ac:chgData name="Saipavan Pabba" userId="aa2da44c34799f3d" providerId="LiveId" clId="{A4916B64-A7D5-45E9-B613-1457CE872AC0}" dt="2026-09-05T15:06:55.686" v="165" actId="255"/>
          <ac:spMkLst>
            <pc:docMk/>
            <pc:sldMk cId="3753387913" sldId="293"/>
            <ac:spMk id="8" creationId="{642D2EC1-3F2B-7716-A6A3-624C2E62A77C}"/>
          </ac:spMkLst>
        </pc:spChg>
      </pc:sldChg>
      <pc:sldChg chg="addSp delSp modSp mod">
        <pc:chgData name="Saipavan Pabba" userId="aa2da44c34799f3d" providerId="LiveId" clId="{A4916B64-A7D5-45E9-B613-1457CE872AC0}" dt="2026-09-05T15:14:02.284" v="215" actId="1076"/>
        <pc:sldMkLst>
          <pc:docMk/>
          <pc:sldMk cId="2997144140" sldId="294"/>
        </pc:sldMkLst>
        <pc:spChg chg="add del mod">
          <ac:chgData name="Saipavan Pabba" userId="aa2da44c34799f3d" providerId="LiveId" clId="{A4916B64-A7D5-45E9-B613-1457CE872AC0}" dt="2026-09-05T15:13:19.018" v="210"/>
          <ac:spMkLst>
            <pc:docMk/>
            <pc:sldMk cId="2997144140" sldId="294"/>
            <ac:spMk id="3" creationId="{E90C5078-0DD1-8A4E-7058-BFF1CC99ED1A}"/>
          </ac:spMkLst>
        </pc:spChg>
        <pc:spChg chg="add mod">
          <ac:chgData name="Saipavan Pabba" userId="aa2da44c34799f3d" providerId="LiveId" clId="{A4916B64-A7D5-45E9-B613-1457CE872AC0}" dt="2026-09-05T15:13:16.742" v="208" actId="14100"/>
          <ac:spMkLst>
            <pc:docMk/>
            <pc:sldMk cId="2997144140" sldId="294"/>
            <ac:spMk id="4" creationId="{A9619409-2864-86E8-D9D6-B6ED7CE62990}"/>
          </ac:spMkLst>
        </pc:spChg>
        <pc:spChg chg="mod">
          <ac:chgData name="Saipavan Pabba" userId="aa2da44c34799f3d" providerId="LiveId" clId="{A4916B64-A7D5-45E9-B613-1457CE872AC0}" dt="2026-09-05T15:11:41.565" v="193" actId="113"/>
          <ac:spMkLst>
            <pc:docMk/>
            <pc:sldMk cId="2997144140" sldId="294"/>
            <ac:spMk id="31" creationId="{9424EAB3-503F-6495-43BB-B67871CC62EB}"/>
          </ac:spMkLst>
        </pc:spChg>
        <pc:spChg chg="mod">
          <ac:chgData name="Saipavan Pabba" userId="aa2da44c34799f3d" providerId="LiveId" clId="{A4916B64-A7D5-45E9-B613-1457CE872AC0}" dt="2026-09-05T15:10:58.073" v="188" actId="113"/>
          <ac:spMkLst>
            <pc:docMk/>
            <pc:sldMk cId="2997144140" sldId="294"/>
            <ac:spMk id="33" creationId="{C1A342A0-E681-B416-4CB9-4B6D253DC16C}"/>
          </ac:spMkLst>
        </pc:spChg>
        <pc:spChg chg="mod">
          <ac:chgData name="Saipavan Pabba" userId="aa2da44c34799f3d" providerId="LiveId" clId="{A4916B64-A7D5-45E9-B613-1457CE872AC0}" dt="2026-09-05T15:13:54.450" v="214" actId="1076"/>
          <ac:spMkLst>
            <pc:docMk/>
            <pc:sldMk cId="2997144140" sldId="294"/>
            <ac:spMk id="35" creationId="{81C1CFA0-0549-8F44-C545-3510C8C34A55}"/>
          </ac:spMkLst>
        </pc:spChg>
        <pc:picChg chg="mod">
          <ac:chgData name="Saipavan Pabba" userId="aa2da44c34799f3d" providerId="LiveId" clId="{A4916B64-A7D5-45E9-B613-1457CE872AC0}" dt="2026-09-05T15:14:02.284" v="215" actId="1076"/>
          <ac:picMkLst>
            <pc:docMk/>
            <pc:sldMk cId="2997144140" sldId="294"/>
            <ac:picMk id="39" creationId="{21E315E8-A783-5821-2E79-83537E197D75}"/>
          </ac:picMkLst>
        </pc:picChg>
      </pc:sldChg>
      <pc:sldChg chg="addSp modSp mod">
        <pc:chgData name="Saipavan Pabba" userId="aa2da44c34799f3d" providerId="LiveId" clId="{A4916B64-A7D5-45E9-B613-1457CE872AC0}" dt="2026-09-05T15:15:49.762" v="225" actId="20577"/>
        <pc:sldMkLst>
          <pc:docMk/>
          <pc:sldMk cId="2452933159" sldId="298"/>
        </pc:sldMkLst>
        <pc:spChg chg="mod">
          <ac:chgData name="Saipavan Pabba" userId="aa2da44c34799f3d" providerId="LiveId" clId="{A4916B64-A7D5-45E9-B613-1457CE872AC0}" dt="2026-09-05T15:15:49.762" v="225" actId="20577"/>
          <ac:spMkLst>
            <pc:docMk/>
            <pc:sldMk cId="2452933159" sldId="298"/>
            <ac:spMk id="9" creationId="{5DBCE864-823D-4A13-9607-5DA1F0ED5FB8}"/>
          </ac:spMkLst>
        </pc:spChg>
        <pc:spChg chg="mod">
          <ac:chgData name="Saipavan Pabba" userId="aa2da44c34799f3d" providerId="LiveId" clId="{A4916B64-A7D5-45E9-B613-1457CE872AC0}" dt="2026-09-05T15:14:25.326" v="216" actId="12"/>
          <ac:spMkLst>
            <pc:docMk/>
            <pc:sldMk cId="2452933159" sldId="298"/>
            <ac:spMk id="203" creationId="{00000000-0000-0000-0000-000000000000}"/>
          </ac:spMkLst>
        </pc:spChg>
        <pc:spChg chg="mod">
          <ac:chgData name="Saipavan Pabba" userId="aa2da44c34799f3d" providerId="LiveId" clId="{A4916B64-A7D5-45E9-B613-1457CE872AC0}" dt="2026-09-05T15:15:40.631" v="224" actId="255"/>
          <ac:spMkLst>
            <pc:docMk/>
            <pc:sldMk cId="2452933159" sldId="298"/>
            <ac:spMk id="204" creationId="{00000000-0000-0000-0000-000000000000}"/>
          </ac:spMkLst>
        </pc:spChg>
        <pc:spChg chg="mod">
          <ac:chgData name="Saipavan Pabba" userId="aa2da44c34799f3d" providerId="LiveId" clId="{A4916B64-A7D5-45E9-B613-1457CE872AC0}" dt="2026-09-05T15:15:24.609" v="220" actId="27636"/>
          <ac:spMkLst>
            <pc:docMk/>
            <pc:sldMk cId="2452933159" sldId="298"/>
            <ac:spMk id="205" creationId="{00000000-0000-0000-0000-000000000000}"/>
          </ac:spMkLst>
        </pc:spChg>
        <pc:cxnChg chg="add mod">
          <ac:chgData name="Saipavan Pabba" userId="aa2da44c34799f3d" providerId="LiveId" clId="{A4916B64-A7D5-45E9-B613-1457CE872AC0}" dt="2026-09-05T14:49:04.694" v="4" actId="1076"/>
          <ac:cxnSpMkLst>
            <pc:docMk/>
            <pc:sldMk cId="2452933159" sldId="298"/>
            <ac:cxnSpMk id="2" creationId="{107F9D46-1004-88DC-384F-DCA1DD573335}"/>
          </ac:cxnSpMkLst>
        </pc:cxnChg>
        <pc:cxnChg chg="add mod">
          <ac:chgData name="Saipavan Pabba" userId="aa2da44c34799f3d" providerId="LiveId" clId="{A4916B64-A7D5-45E9-B613-1457CE872AC0}" dt="2026-09-05T14:49:42.418" v="10" actId="1076"/>
          <ac:cxnSpMkLst>
            <pc:docMk/>
            <pc:sldMk cId="2452933159" sldId="298"/>
            <ac:cxnSpMk id="5" creationId="{CBEDB800-1AC3-C000-7CCC-C76725AE3D97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56297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165003" y="998832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040692" y="851521"/>
            <a:ext cx="7584141" cy="953880"/>
          </a:xfrm>
        </p:spPr>
        <p:txBody>
          <a:bodyPr/>
          <a:lstStyle/>
          <a:p>
            <a:r>
              <a:rPr lang="en-US" sz="32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32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9789" y="1578569"/>
            <a:ext cx="5924550" cy="5240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SIH26140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AI-Based Interactive Quantum Algorithm Learning Platform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US" sz="2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Smart Education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US" sz="2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Cognitive Crew</a:t>
            </a:r>
            <a:endParaRPr lang="en-IN" sz="24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1334814" y="126176"/>
            <a:ext cx="9490841" cy="778587"/>
            <a:chOff x="651732" y="38165"/>
            <a:chExt cx="10694324" cy="870393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4833" y="87954"/>
              <a:ext cx="1721223" cy="812729"/>
            </a:xfrm>
            <a:prstGeom prst="rect">
              <a:avLst/>
            </a:prstGeom>
          </p:spPr>
        </p:pic>
        <p:pic>
          <p:nvPicPr>
            <p:cNvPr id="20" name="Google Shape;212;p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51732" y="87954"/>
              <a:ext cx="792644" cy="8206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3;p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040692" y="83807"/>
              <a:ext cx="1033387" cy="794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14;p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756558" y="57696"/>
              <a:ext cx="925995" cy="846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15;p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580745" y="75683"/>
              <a:ext cx="1030509" cy="8022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Picture 2" descr="C:\Users\RVR\Downloads\IICLogo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70376" y="38165"/>
              <a:ext cx="1880082" cy="813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93792" y="755944"/>
            <a:ext cx="10972800" cy="399889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Qurio</a:t>
            </a:r>
            <a:r>
              <a:rPr lang="en-IN" sz="2400" b="1" dirty="0"/>
              <a:t>— Hardware-Aware Intelligent Quantum Workspace</a:t>
            </a:r>
            <a:endParaRPr lang="en-US" sz="24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Cognitive crew</a:t>
            </a:r>
            <a:endParaRPr lang="en-IN" sz="12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2353950" y="126177"/>
            <a:ext cx="8787016" cy="905622"/>
            <a:chOff x="651732" y="38165"/>
            <a:chExt cx="10694324" cy="870393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4833" y="87954"/>
              <a:ext cx="1721223" cy="812729"/>
            </a:xfrm>
            <a:prstGeom prst="rect">
              <a:avLst/>
            </a:prstGeom>
          </p:spPr>
        </p:pic>
        <p:pic>
          <p:nvPicPr>
            <p:cNvPr id="14" name="Google Shape;212;p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51732" y="87954"/>
              <a:ext cx="792644" cy="8206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213;p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040692" y="83807"/>
              <a:ext cx="1033387" cy="794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214;p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756558" y="57696"/>
              <a:ext cx="925995" cy="846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215;p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580745" y="75683"/>
              <a:ext cx="1030509" cy="8022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Picture 2" descr="C:\Users\RVR\Downloads\IICLogo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70376" y="38165"/>
              <a:ext cx="1880082" cy="813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5C01D18-A5BC-1DC3-25CF-8B98A6CBE694}"/>
              </a:ext>
            </a:extLst>
          </p:cNvPr>
          <p:cNvSpPr/>
          <p:nvPr/>
        </p:nvSpPr>
        <p:spPr>
          <a:xfrm>
            <a:off x="0" y="1435510"/>
            <a:ext cx="12191999" cy="1140542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7BC7F4-5B5A-9F06-1CDC-4B463BFCBE86}"/>
              </a:ext>
            </a:extLst>
          </p:cNvPr>
          <p:cNvSpPr/>
          <p:nvPr/>
        </p:nvSpPr>
        <p:spPr>
          <a:xfrm>
            <a:off x="0" y="1435511"/>
            <a:ext cx="5624052" cy="1140542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CEA78F-CCE1-24B4-0876-38606A18405F}"/>
              </a:ext>
            </a:extLst>
          </p:cNvPr>
          <p:cNvSpPr txBox="1"/>
          <p:nvPr/>
        </p:nvSpPr>
        <p:spPr>
          <a:xfrm>
            <a:off x="0" y="1417061"/>
            <a:ext cx="1336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Problem:</a:t>
            </a:r>
            <a:endParaRPr lang="en-IN" sz="1600" b="1" u="sng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E49338-6B73-58FC-ECEA-6A85C60E8CD2}"/>
              </a:ext>
            </a:extLst>
          </p:cNvPr>
          <p:cNvSpPr txBox="1"/>
          <p:nvPr/>
        </p:nvSpPr>
        <p:spPr>
          <a:xfrm>
            <a:off x="0" y="1641669"/>
            <a:ext cx="54372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50" b="1" dirty="0"/>
              <a:t>Standard quantum resources</a:t>
            </a:r>
            <a:r>
              <a:rPr lang="en-IN" sz="1450" dirty="0"/>
              <a:t> treat quantum computing as purely abstract math, producing developers unaware of real hardware constraints like gate noise and connectivity limits.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6C7EDE-6042-18EF-1E79-3A7B5D294990}"/>
              </a:ext>
            </a:extLst>
          </p:cNvPr>
          <p:cNvSpPr txBox="1"/>
          <p:nvPr/>
        </p:nvSpPr>
        <p:spPr>
          <a:xfrm>
            <a:off x="5624052" y="1422929"/>
            <a:ext cx="1336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Our Idea:</a:t>
            </a:r>
            <a:endParaRPr lang="en-IN" sz="1600" b="1" u="sng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02A4A9-BBF6-988E-B588-9202DC928F67}"/>
              </a:ext>
            </a:extLst>
          </p:cNvPr>
          <p:cNvSpPr txBox="1"/>
          <p:nvPr/>
        </p:nvSpPr>
        <p:spPr>
          <a:xfrm>
            <a:off x="5624052" y="1640394"/>
            <a:ext cx="587808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A hardware-aware</a:t>
            </a:r>
            <a:r>
              <a:rPr lang="en-IN" sz="1400" dirty="0"/>
              <a:t>, </a:t>
            </a:r>
            <a:r>
              <a:rPr lang="en-IN" sz="1400" b="1" dirty="0"/>
              <a:t>multi-SDK quantum circuit sandbox </a:t>
            </a:r>
            <a:r>
              <a:rPr lang="en-IN" sz="1400" dirty="0"/>
              <a:t>that combines </a:t>
            </a:r>
            <a:r>
              <a:rPr lang="en-IN" sz="1400" b="1" dirty="0"/>
              <a:t>a visual node canvas</a:t>
            </a:r>
            <a:r>
              <a:rPr lang="en-IN" sz="1400" dirty="0"/>
              <a:t> and a </a:t>
            </a:r>
            <a:r>
              <a:rPr lang="en-IN" sz="1400" b="1" dirty="0"/>
              <a:t>live multi-SDK code panel</a:t>
            </a:r>
            <a:r>
              <a:rPr lang="en-IN" sz="1400" dirty="0"/>
              <a:t>,</a:t>
            </a:r>
            <a:r>
              <a:rPr lang="en-IN" sz="1400" b="1" dirty="0"/>
              <a:t> peer collaborative debugging rooms</a:t>
            </a:r>
            <a:r>
              <a:rPr lang="en-IN" sz="1400" dirty="0"/>
              <a:t>,</a:t>
            </a:r>
            <a:r>
              <a:rPr lang="en-IN" sz="1400" b="1" dirty="0"/>
              <a:t> and intelligent tutoring </a:t>
            </a:r>
            <a:r>
              <a:rPr lang="en-IN" sz="1400" dirty="0"/>
              <a:t>that tracks progress from Qubits to QML, auto-grading exercises with hidden checks.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38D7C4-6BF5-9C01-9359-CF36DF561D7A}"/>
              </a:ext>
            </a:extLst>
          </p:cNvPr>
          <p:cNvSpPr/>
          <p:nvPr/>
        </p:nvSpPr>
        <p:spPr>
          <a:xfrm>
            <a:off x="5624052" y="1422929"/>
            <a:ext cx="6567948" cy="1171572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02EB02-6D4A-2769-90EF-FCA4A25AC4CD}"/>
              </a:ext>
            </a:extLst>
          </p:cNvPr>
          <p:cNvSpPr txBox="1"/>
          <p:nvPr/>
        </p:nvSpPr>
        <p:spPr>
          <a:xfrm>
            <a:off x="1" y="2619663"/>
            <a:ext cx="4303266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Proposed Solution:</a:t>
            </a:r>
            <a:endParaRPr lang="en-IN" sz="1600" u="sng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Multi-Framework Circuit Sandbox</a:t>
            </a:r>
            <a:r>
              <a:rPr lang="en-IN" sz="1400" dirty="0"/>
              <a:t>: Node-based canvas produces a consistent </a:t>
            </a:r>
            <a:r>
              <a:rPr lang="en-IN" sz="1400" dirty="0" err="1"/>
              <a:t>OpenQASM</a:t>
            </a:r>
            <a:r>
              <a:rPr lang="en-IN" sz="1400" dirty="0"/>
              <a:t> 3.0 circuit, and a Monaco code editor is used for running </a:t>
            </a:r>
            <a:r>
              <a:rPr lang="en-IN" sz="1400" dirty="0" err="1"/>
              <a:t>Qiskit</a:t>
            </a:r>
            <a:r>
              <a:rPr lang="en-IN" sz="1400" dirty="0"/>
              <a:t>, Cirq, and PennyLane programs.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Peer Collaborative Debugging</a:t>
            </a:r>
            <a:r>
              <a:rPr lang="en-IN" sz="1400" dirty="0"/>
              <a:t>: Rooms are built on the Spring </a:t>
            </a:r>
            <a:r>
              <a:rPr lang="en-IN" sz="1400" dirty="0" err="1"/>
              <a:t>WebFlux</a:t>
            </a:r>
            <a:r>
              <a:rPr lang="en-IN" sz="1400" dirty="0"/>
              <a:t> stack, where CRDTs ensure consistency to avoid edit conflicts even with unreliable lab router connections.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Intelligent Tutoring</a:t>
            </a:r>
            <a:r>
              <a:rPr lang="en-IN" sz="1400" dirty="0"/>
              <a:t>: Tracks your progress from Qubits to QML &amp; Optimization, and automatically grades assignments using check vectors.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A95D82-1FF1-46FD-01F7-180275BD8496}"/>
              </a:ext>
            </a:extLst>
          </p:cNvPr>
          <p:cNvSpPr txBox="1"/>
          <p:nvPr/>
        </p:nvSpPr>
        <p:spPr>
          <a:xfrm>
            <a:off x="7668404" y="2766967"/>
            <a:ext cx="4523596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600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Innovation/Uniqueness: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300" dirty="0"/>
              <a:t>Hardware-Aware Intelligent Quantum Workspace</a:t>
            </a:r>
          </a:p>
          <a:p>
            <a:endParaRPr lang="en-IN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300" dirty="0"/>
              <a:t>A truly intelligent quantum workspace that goes beyond the abstract mathematical formulation, bringing in practical hardware limitations like noise levels, connectivity challenges and coherence times.</a:t>
            </a:r>
          </a:p>
          <a:p>
            <a:endParaRPr lang="en-IN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300" dirty="0"/>
              <a:t>A combined Visual Canvas and Dual Code Script Panel for an </a:t>
            </a:r>
            <a:r>
              <a:rPr lang="en-IN" sz="1300" dirty="0" err="1"/>
              <a:t>OpenQASM</a:t>
            </a:r>
            <a:r>
              <a:rPr lang="en-IN" sz="1300" dirty="0"/>
              <a:t> 3.0 workflow.</a:t>
            </a:r>
          </a:p>
          <a:p>
            <a:endParaRPr lang="en-IN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300" dirty="0"/>
              <a:t>Collaborative rooms that can coordinate multi-user debug sessions with </a:t>
            </a:r>
            <a:r>
              <a:rPr lang="en-IN" sz="1300" dirty="0" err="1"/>
              <a:t>CRDTtechnology</a:t>
            </a:r>
            <a:r>
              <a:rPr lang="en-IN" sz="1300" dirty="0"/>
              <a:t> ensuring no conflicts occur over unreliable lab network connections.</a:t>
            </a:r>
          </a:p>
          <a:p>
            <a:pPr lvl="0"/>
            <a:endParaRPr lang="en-IN" sz="14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2B07559-301B-46B0-0BE9-5B30902E54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83101" y="2619663"/>
            <a:ext cx="3385303" cy="37260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12955" y="767352"/>
            <a:ext cx="10972800" cy="676432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-59407" y="1072792"/>
            <a:ext cx="4218038" cy="815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1700" b="1" dirty="0">
                <a:solidFill>
                  <a:srgbClr val="00B0F0"/>
                </a:solidFill>
              </a:rPr>
              <a:t>Technologies used</a:t>
            </a:r>
            <a:r>
              <a:rPr lang="en-IN" sz="1700" b="1" dirty="0"/>
              <a:t>:</a:t>
            </a:r>
          </a:p>
          <a:p>
            <a:r>
              <a:rPr lang="en-US" sz="1400" dirty="0"/>
              <a:t>.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Cognitive crew</a:t>
            </a:r>
            <a:endParaRPr lang="en-IN" sz="1200" dirty="0"/>
          </a:p>
        </p:txBody>
      </p:sp>
      <p:grpSp>
        <p:nvGrpSpPr>
          <p:cNvPr id="9" name="Group 8"/>
          <p:cNvGrpSpPr/>
          <p:nvPr/>
        </p:nvGrpSpPr>
        <p:grpSpPr>
          <a:xfrm>
            <a:off x="2353950" y="126177"/>
            <a:ext cx="7877185" cy="695623"/>
            <a:chOff x="651732" y="38165"/>
            <a:chExt cx="10694324" cy="870393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4833" y="87954"/>
              <a:ext cx="1721223" cy="812729"/>
            </a:xfrm>
            <a:prstGeom prst="rect">
              <a:avLst/>
            </a:prstGeom>
          </p:spPr>
        </p:pic>
        <p:pic>
          <p:nvPicPr>
            <p:cNvPr id="14" name="Google Shape;212;p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51732" y="87954"/>
              <a:ext cx="792644" cy="8206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213;p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040692" y="83807"/>
              <a:ext cx="1033387" cy="794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214;p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756558" y="57696"/>
              <a:ext cx="925995" cy="846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215;p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580745" y="75683"/>
              <a:ext cx="1030509" cy="8022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Picture 2" descr="C:\Users\RVR\Downloads\IICLogo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70376" y="38165"/>
              <a:ext cx="1880082" cy="813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14F6A355-4C18-290E-5E12-B8E1070187F6}"/>
              </a:ext>
            </a:extLst>
          </p:cNvPr>
          <p:cNvSpPr txBox="1"/>
          <p:nvPr/>
        </p:nvSpPr>
        <p:spPr>
          <a:xfrm>
            <a:off x="7699510" y="1443784"/>
            <a:ext cx="449249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Methodology / Implementation flow:</a:t>
            </a: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Monaco multi-</a:t>
            </a:r>
            <a:r>
              <a:rPr lang="en-IN" sz="1400" dirty="0" err="1"/>
              <a:t>sdk</a:t>
            </a:r>
            <a:r>
              <a:rPr lang="en-IN" sz="1400" dirty="0"/>
              <a:t> script/visual canvas feeds circuit data into the Spring Boot Gateway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The Gateway forwards the request via Kafka to the Python worker cluster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ANTLR4 compiles the visual/code input into an </a:t>
            </a:r>
            <a:r>
              <a:rPr lang="en-IN" sz="1400" dirty="0" err="1"/>
              <a:t>openqasm</a:t>
            </a:r>
            <a:r>
              <a:rPr lang="en-IN" sz="1400" dirty="0"/>
              <a:t> 3.0 pipeline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Multi backend runner executes the </a:t>
            </a:r>
            <a:r>
              <a:rPr lang="en-IN" sz="1400" dirty="0" err="1"/>
              <a:t>sdk</a:t>
            </a:r>
            <a:r>
              <a:rPr lang="en-IN" sz="1400" dirty="0"/>
              <a:t> loop match (</a:t>
            </a:r>
            <a:r>
              <a:rPr lang="en-IN" sz="1400" dirty="0" err="1"/>
              <a:t>AerSimulator</a:t>
            </a:r>
            <a:r>
              <a:rPr lang="en-IN" sz="1400" dirty="0"/>
              <a:t>/</a:t>
            </a:r>
            <a:r>
              <a:rPr lang="en-IN" sz="1400" dirty="0" err="1"/>
              <a:t>cirq.Simulator</a:t>
            </a:r>
            <a:r>
              <a:rPr lang="en-IN" sz="1400" dirty="0"/>
              <a:t>/PennyLane)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D3.js visualization renders Bloch spheres, probability plots and circuit statistics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66558AF-669E-F7E7-A093-DA5977B6CBF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25596" y="1513303"/>
            <a:ext cx="3591310" cy="46969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6718B75-92E1-7740-AA43-C069483BD1D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99510" y="3936774"/>
            <a:ext cx="4503974" cy="24179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7A76C38-B8B0-94F1-F737-879ADDEEC03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603" y="1456996"/>
            <a:ext cx="3954477" cy="48977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28918" y="759198"/>
            <a:ext cx="10972800" cy="719944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Cognitive crew</a:t>
            </a:r>
            <a:endParaRPr lang="en-IN" sz="1200" dirty="0"/>
          </a:p>
        </p:txBody>
      </p:sp>
      <p:grpSp>
        <p:nvGrpSpPr>
          <p:cNvPr id="9" name="Group 8"/>
          <p:cNvGrpSpPr/>
          <p:nvPr/>
        </p:nvGrpSpPr>
        <p:grpSpPr>
          <a:xfrm>
            <a:off x="2353950" y="126177"/>
            <a:ext cx="7877185" cy="695623"/>
            <a:chOff x="651732" y="38165"/>
            <a:chExt cx="10694324" cy="870393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4833" y="87954"/>
              <a:ext cx="1721223" cy="812729"/>
            </a:xfrm>
            <a:prstGeom prst="rect">
              <a:avLst/>
            </a:prstGeom>
          </p:spPr>
        </p:pic>
        <p:pic>
          <p:nvPicPr>
            <p:cNvPr id="14" name="Google Shape;212;p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51732" y="87954"/>
              <a:ext cx="792644" cy="8206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213;p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040692" y="83807"/>
              <a:ext cx="1033387" cy="794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214;p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756558" y="57696"/>
              <a:ext cx="925995" cy="846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215;p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580745" y="75683"/>
              <a:ext cx="1030509" cy="8022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Picture 2" descr="C:\Users\RVR\Downloads\IICLogo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70376" y="38165"/>
              <a:ext cx="1880082" cy="813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9A7A945-BDE1-8449-A684-EE652536EB0B}"/>
              </a:ext>
            </a:extLst>
          </p:cNvPr>
          <p:cNvSpPr/>
          <p:nvPr/>
        </p:nvSpPr>
        <p:spPr>
          <a:xfrm>
            <a:off x="-1" y="1582994"/>
            <a:ext cx="6096001" cy="2045110"/>
          </a:xfrm>
          <a:prstGeom prst="rect">
            <a:avLst/>
          </a:prstGeom>
          <a:noFill/>
          <a:ln>
            <a:solidFill>
              <a:srgbClr val="FFA751"/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49E682-95E0-906C-0FFF-C1756534906B}"/>
              </a:ext>
            </a:extLst>
          </p:cNvPr>
          <p:cNvSpPr txBox="1"/>
          <p:nvPr/>
        </p:nvSpPr>
        <p:spPr>
          <a:xfrm>
            <a:off x="1" y="1603861"/>
            <a:ext cx="5909186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FEASIBILITY</a:t>
            </a:r>
          </a:p>
          <a:p>
            <a:pPr lvl="0"/>
            <a:r>
              <a:rPr lang="en-IN" sz="1500" b="1" dirty="0"/>
              <a:t>Sandboxed &amp; CPU-Bound: </a:t>
            </a:r>
            <a:r>
              <a:rPr lang="en-IN" sz="1500" dirty="0"/>
              <a:t>Simulations limited to N ≤ 12 qubits / workspace due to CPU resource constraints.</a:t>
            </a:r>
          </a:p>
          <a:p>
            <a:pPr lvl="0"/>
            <a:r>
              <a:rPr lang="en-IN" sz="1500" b="1" dirty="0"/>
              <a:t>Multi-SDK Stack: </a:t>
            </a:r>
            <a:r>
              <a:rPr lang="en-IN" sz="1500" dirty="0"/>
              <a:t>Includes </a:t>
            </a:r>
            <a:r>
              <a:rPr lang="en-IN" sz="1500" dirty="0" err="1"/>
              <a:t>Qiskit</a:t>
            </a:r>
            <a:r>
              <a:rPr lang="en-IN" sz="1500" dirty="0"/>
              <a:t> Aer, Cirq, and PennyLane running in isolated subprocesses.</a:t>
            </a:r>
          </a:p>
          <a:p>
            <a:pPr lvl="0"/>
            <a:r>
              <a:rPr lang="en-IN" sz="1500" b="1" dirty="0"/>
              <a:t>Phased Rollout: </a:t>
            </a:r>
            <a:r>
              <a:rPr lang="en-IN" sz="1500" dirty="0"/>
              <a:t>P1 → P2 → P3 → P4 development lifecycle.</a:t>
            </a:r>
          </a:p>
          <a:p>
            <a:pPr lvl="0"/>
            <a:r>
              <a:rPr lang="en-IN" sz="1500" b="1" dirty="0"/>
              <a:t>Grounded RAG: </a:t>
            </a:r>
            <a:r>
              <a:rPr lang="en-IN" sz="1500" dirty="0" err="1"/>
              <a:t>Groq</a:t>
            </a:r>
            <a:r>
              <a:rPr lang="en-IN" sz="1500" dirty="0"/>
              <a:t>-hosted LLM ground-truths region-of-interest language models.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1D1F88-7C72-8BB2-9FB8-A9FAADE38A97}"/>
              </a:ext>
            </a:extLst>
          </p:cNvPr>
          <p:cNvSpPr/>
          <p:nvPr/>
        </p:nvSpPr>
        <p:spPr>
          <a:xfrm>
            <a:off x="6096000" y="1542325"/>
            <a:ext cx="6095999" cy="2085779"/>
          </a:xfrm>
          <a:prstGeom prst="rect">
            <a:avLst/>
          </a:prstGeom>
          <a:noFill/>
          <a:ln>
            <a:solidFill>
              <a:srgbClr val="FFA751"/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2D2EC1-3F2B-7716-A6A3-624C2E62A77C}"/>
              </a:ext>
            </a:extLst>
          </p:cNvPr>
          <p:cNvSpPr txBox="1"/>
          <p:nvPr/>
        </p:nvSpPr>
        <p:spPr>
          <a:xfrm>
            <a:off x="6095999" y="1569542"/>
            <a:ext cx="6095998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CHALLENGES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AI Hallucination</a:t>
            </a:r>
            <a:r>
              <a:rPr lang="en-IN" sz="1500" dirty="0"/>
              <a:t> → Code parsed through </a:t>
            </a:r>
            <a:r>
              <a:rPr lang="en-IN" sz="1500" dirty="0" err="1"/>
              <a:t>Qiskit</a:t>
            </a:r>
            <a:r>
              <a:rPr lang="en-IN" sz="1500" dirty="0"/>
              <a:t>/Cirq sandbox syntax checks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Variable Server Load</a:t>
            </a:r>
            <a:r>
              <a:rPr lang="en-IN" sz="1500" dirty="0"/>
              <a:t> → N ≤ 12 Qubit compute ceilings enforce isolated spikes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Sync Collisions</a:t>
            </a:r>
            <a:r>
              <a:rPr lang="en-IN" sz="1500" dirty="0"/>
              <a:t> → CRDT-based conflict resolution across live-rooms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Misconception Mapping</a:t>
            </a:r>
            <a:r>
              <a:rPr lang="en-IN" sz="1500" dirty="0"/>
              <a:t> → Java classifier cross-references error patterns against a misconception matrix</a:t>
            </a:r>
            <a:endParaRPr lang="en-IN" sz="1500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5542BD1-C1B4-CE4D-72CC-F34789F676A9}"/>
              </a:ext>
            </a:extLst>
          </p:cNvPr>
          <p:cNvSpPr/>
          <p:nvPr/>
        </p:nvSpPr>
        <p:spPr>
          <a:xfrm>
            <a:off x="1" y="3631748"/>
            <a:ext cx="12191996" cy="2586492"/>
          </a:xfrm>
          <a:prstGeom prst="rect">
            <a:avLst/>
          </a:prstGeom>
          <a:noFill/>
          <a:ln>
            <a:solidFill>
              <a:srgbClr val="FFA751"/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4ADC40-6EA4-E4A4-CA9F-4D905A3D5FC6}"/>
              </a:ext>
            </a:extLst>
          </p:cNvPr>
          <p:cNvSpPr/>
          <p:nvPr/>
        </p:nvSpPr>
        <p:spPr>
          <a:xfrm>
            <a:off x="2" y="3631748"/>
            <a:ext cx="3505198" cy="2586492"/>
          </a:xfrm>
          <a:prstGeom prst="rect">
            <a:avLst/>
          </a:prstGeom>
          <a:noFill/>
          <a:ln>
            <a:solidFill>
              <a:srgbClr val="FFA751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F4B892-40E3-DFF4-76BE-390382FFD180}"/>
              </a:ext>
            </a:extLst>
          </p:cNvPr>
          <p:cNvSpPr txBox="1"/>
          <p:nvPr/>
        </p:nvSpPr>
        <p:spPr>
          <a:xfrm>
            <a:off x="1" y="3731956"/>
            <a:ext cx="309879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STRATEGY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P1 – Core Sandbox:</a:t>
            </a:r>
            <a:r>
              <a:rPr lang="en-IN" sz="1400" dirty="0"/>
              <a:t> React + Spring Boot gateway; OpenQASM drag layouts + Monaco editor.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P2 – Execution Pipeline:</a:t>
            </a:r>
            <a:r>
              <a:rPr lang="en-IN" sz="1400" dirty="0"/>
              <a:t> FastAPI containers (Qiskit/Cirq/PennyLane) emit Bloch/probability telemetry.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P3 – AI Tutor:</a:t>
            </a:r>
            <a:r>
              <a:rPr lang="en-IN" sz="1400" dirty="0"/>
              <a:t> ANTLR4 + Clifford+T scorecard; RAG over Groq.</a:t>
            </a:r>
          </a:p>
          <a:p>
            <a:endParaRPr lang="en-IN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1646345-0E01-E45B-254F-F2E3D175268E}"/>
              </a:ext>
            </a:extLst>
          </p:cNvPr>
          <p:cNvSpPr/>
          <p:nvPr/>
        </p:nvSpPr>
        <p:spPr>
          <a:xfrm>
            <a:off x="3522841" y="3648971"/>
            <a:ext cx="4207770" cy="2569269"/>
          </a:xfrm>
          <a:prstGeom prst="rect">
            <a:avLst/>
          </a:prstGeom>
          <a:noFill/>
          <a:ln>
            <a:solidFill>
              <a:srgbClr val="FFA751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3CBA5E7-9002-BB11-2E65-38FFE790F23B}"/>
              </a:ext>
            </a:extLst>
          </p:cNvPr>
          <p:cNvSpPr/>
          <p:nvPr/>
        </p:nvSpPr>
        <p:spPr>
          <a:xfrm>
            <a:off x="7730611" y="3631748"/>
            <a:ext cx="4461386" cy="2586492"/>
          </a:xfrm>
          <a:prstGeom prst="rect">
            <a:avLst/>
          </a:prstGeom>
          <a:noFill/>
          <a:ln>
            <a:solidFill>
              <a:srgbClr val="FFA751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AE95EF3-FB62-971A-2D5D-3895129433C3}"/>
              </a:ext>
            </a:extLst>
          </p:cNvPr>
          <p:cNvSpPr txBox="1"/>
          <p:nvPr/>
        </p:nvSpPr>
        <p:spPr>
          <a:xfrm>
            <a:off x="3575170" y="3698771"/>
            <a:ext cx="388226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DEPLOYMENT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Client Node:</a:t>
            </a:r>
            <a:r>
              <a:rPr lang="en-IN" sz="1400" dirty="0"/>
              <a:t> Browser-based, 4 GB RAM minimum ceiling.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Local Server:</a:t>
            </a:r>
            <a:r>
              <a:rPr lang="en-IN" sz="1400" dirty="0"/>
              <a:t> 4-core vCPU / 16 GB RAM classical deployment option.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P4 – Collaboration:</a:t>
            </a:r>
            <a:r>
              <a:rPr lang="en-IN" sz="1400" dirty="0"/>
              <a:t> Yjs WebSocket engine for multi-collaborator rooms + instructor analytics.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No Server GPUs:</a:t>
            </a:r>
            <a:r>
              <a:rPr lang="en-IN" sz="1400" dirty="0"/>
              <a:t> Bounded 12-qubit state-vectors complete on standard classical CPUs.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93BB2C-D644-4FE8-85A0-6E65A2B72BF5}"/>
              </a:ext>
            </a:extLst>
          </p:cNvPr>
          <p:cNvSpPr txBox="1"/>
          <p:nvPr/>
        </p:nvSpPr>
        <p:spPr>
          <a:xfrm>
            <a:off x="7782941" y="3731956"/>
            <a:ext cx="420777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VIABILITY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Freemium SaaS:</a:t>
            </a:r>
            <a:r>
              <a:rPr lang="en-IN" sz="1400" dirty="0"/>
              <a:t> Free core modules; premium certification pathways for students.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Academic B2B Tier:</a:t>
            </a:r>
            <a:r>
              <a:rPr lang="en-IN" sz="1400" dirty="0"/>
              <a:t> University subscriptions with analytics, curricula &amp; instructor dashboards.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National Alignment:</a:t>
            </a:r>
            <a:r>
              <a:rPr lang="en-IN" sz="1400" dirty="0"/>
              <a:t> Directly supports India’s National Quantum Mission skilling pillar.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Growth Path:</a:t>
            </a:r>
            <a:r>
              <a:rPr lang="en-IN" sz="1400" dirty="0"/>
              <a:t> Certification tracks in QML for Logistics &amp; Ion-Trap Algorithms.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93059" y="777807"/>
            <a:ext cx="10972800" cy="503238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Cognitive crew</a:t>
            </a:r>
            <a:endParaRPr lang="en-IN" sz="1200" dirty="0"/>
          </a:p>
        </p:txBody>
      </p:sp>
      <p:grpSp>
        <p:nvGrpSpPr>
          <p:cNvPr id="9" name="Group 8"/>
          <p:cNvGrpSpPr/>
          <p:nvPr/>
        </p:nvGrpSpPr>
        <p:grpSpPr>
          <a:xfrm>
            <a:off x="2353950" y="126177"/>
            <a:ext cx="7877185" cy="695623"/>
            <a:chOff x="651732" y="38165"/>
            <a:chExt cx="10694324" cy="870393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4833" y="87954"/>
              <a:ext cx="1721223" cy="812729"/>
            </a:xfrm>
            <a:prstGeom prst="rect">
              <a:avLst/>
            </a:prstGeom>
          </p:spPr>
        </p:pic>
        <p:pic>
          <p:nvPicPr>
            <p:cNvPr id="14" name="Google Shape;212;p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51732" y="87954"/>
              <a:ext cx="792644" cy="8206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213;p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040692" y="83807"/>
              <a:ext cx="1033387" cy="794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214;p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756558" y="57696"/>
              <a:ext cx="925995" cy="846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215;p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580745" y="75683"/>
              <a:ext cx="1030509" cy="8022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Picture 2" descr="C:\Users\RVR\Downloads\IICLogo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70376" y="38165"/>
              <a:ext cx="1880082" cy="813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A3A46F6-23AA-D617-431E-C6A6F829F81C}"/>
              </a:ext>
            </a:extLst>
          </p:cNvPr>
          <p:cNvCxnSpPr>
            <a:cxnSpLocks/>
          </p:cNvCxnSpPr>
          <p:nvPr/>
        </p:nvCxnSpPr>
        <p:spPr>
          <a:xfrm>
            <a:off x="6121699" y="1281045"/>
            <a:ext cx="0" cy="502799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5D0A5B0-74EE-7F84-0908-43EC9163C221}"/>
              </a:ext>
            </a:extLst>
          </p:cNvPr>
          <p:cNvCxnSpPr>
            <a:cxnSpLocks/>
          </p:cNvCxnSpPr>
          <p:nvPr/>
        </p:nvCxnSpPr>
        <p:spPr>
          <a:xfrm flipH="1">
            <a:off x="25699" y="4036093"/>
            <a:ext cx="6096000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424EAB3-503F-6495-43BB-B67871CC62EB}"/>
              </a:ext>
            </a:extLst>
          </p:cNvPr>
          <p:cNvSpPr txBox="1"/>
          <p:nvPr/>
        </p:nvSpPr>
        <p:spPr>
          <a:xfrm>
            <a:off x="299" y="1235326"/>
            <a:ext cx="6121400" cy="2816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00" b="1" dirty="0"/>
              <a:t>The Educational Bottleneck</a:t>
            </a:r>
            <a:endParaRPr lang="en-IN" sz="17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Purely Mathematical Instruction: </a:t>
            </a:r>
            <a:r>
              <a:rPr lang="en-US" sz="1600" dirty="0"/>
              <a:t>Classes end with linear algebra and Dirac notation, where students manipulate equations on paper without ever seeing the circuit malfunction in actual devices.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Hidden Constraints: </a:t>
            </a:r>
            <a:r>
              <a:rPr lang="en-US" sz="1600" dirty="0"/>
              <a:t>The effects of gate noise, limited connectivity, and coherence time remain invisible until students encounter real devices and everything falls apart.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Lack of Error Diagnosis: </a:t>
            </a:r>
            <a:r>
              <a:rPr lang="en-US" sz="1600" dirty="0"/>
              <a:t>Students fail to learn what makes their circuit malfunction; they only know it malfunctions.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Simulation Only Instruction: </a:t>
            </a:r>
            <a:r>
              <a:rPr lang="en-US" sz="1600" dirty="0"/>
              <a:t>Students become confident through the use of ideal simulations, which are devoid of any noise.</a:t>
            </a:r>
            <a:endParaRPr lang="en-IN" sz="16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1A342A0-E681-B416-4CB9-4B6D253DC16C}"/>
              </a:ext>
            </a:extLst>
          </p:cNvPr>
          <p:cNvSpPr txBox="1"/>
          <p:nvPr/>
        </p:nvSpPr>
        <p:spPr>
          <a:xfrm>
            <a:off x="18079" y="4245570"/>
            <a:ext cx="611124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600" b="1" dirty="0"/>
              <a:t>Policy &amp; National Relevance</a:t>
            </a:r>
            <a:endParaRPr lang="en-IN" sz="1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Alignment with NQM: </a:t>
            </a:r>
            <a:r>
              <a:rPr lang="en-US" sz="1600" dirty="0"/>
              <a:t>Supports the aim of India’s National Quantum Mission of developing a quantum-ready workforce.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Scope of Reach for Institutions: </a:t>
            </a:r>
            <a:r>
              <a:rPr lang="en-US" sz="1600" dirty="0"/>
              <a:t>A freemium model that is designed to scale among colleges and universities and not individuals.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Timing of Strategy: </a:t>
            </a:r>
            <a:r>
              <a:rPr lang="en-US" sz="1600" dirty="0"/>
              <a:t>Ensures India’s talent pipeline is ahead of the worldwide race for quantum hardware.</a:t>
            </a:r>
            <a:endParaRPr lang="en-IN" sz="16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1C1CFA0-0549-8F44-C545-3510C8C34A55}"/>
              </a:ext>
            </a:extLst>
          </p:cNvPr>
          <p:cNvSpPr txBox="1"/>
          <p:nvPr/>
        </p:nvSpPr>
        <p:spPr>
          <a:xfrm>
            <a:off x="6095999" y="1123284"/>
            <a:ext cx="5760415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600" b="1" dirty="0"/>
              <a:t>Platform Differentiator</a:t>
            </a:r>
            <a:endParaRPr lang="en-IN" sz="1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Live Hardware Sandbox: </a:t>
            </a:r>
            <a:r>
              <a:rPr lang="en-US" sz="1400" dirty="0"/>
              <a:t>Presents challenges of noise, connectivity, and coherence as the circuit is being assembled rather than once it breaks down.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CRDT Multiplayer: </a:t>
            </a:r>
            <a:r>
              <a:rPr lang="en-US" sz="1400" dirty="0"/>
              <a:t>Collaborate on writing and debugging circuits together in real-time within a single session, using hidden-check grading under the hood.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Regional AI Assistance: </a:t>
            </a:r>
            <a:r>
              <a:rPr lang="en-US" sz="1400" dirty="0"/>
              <a:t>Instantaneous, context-based assistance using </a:t>
            </a:r>
            <a:r>
              <a:rPr lang="en-US" sz="1400" dirty="0" err="1"/>
              <a:t>Groq</a:t>
            </a:r>
            <a:r>
              <a:rPr lang="en-US" sz="1400" dirty="0"/>
              <a:t>-hosted RAG in Hindi, Telugu, and Tamil languages.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/>
              <a:t>Multi-SDK Compatibility: </a:t>
            </a:r>
            <a:r>
              <a:rPr lang="en-US" sz="1400" dirty="0"/>
              <a:t>Maintains the platform agnostic by virtue of its framework with </a:t>
            </a:r>
            <a:r>
              <a:rPr lang="en-US" sz="1400" dirty="0" err="1"/>
              <a:t>OpenQASM</a:t>
            </a:r>
            <a:r>
              <a:rPr lang="en-US" sz="1400" dirty="0"/>
              <a:t> 3.0 + ANTLR4 </a:t>
            </a:r>
            <a:r>
              <a:rPr lang="en-US" sz="1400" dirty="0" err="1"/>
              <a:t>transpilation</a:t>
            </a:r>
            <a:r>
              <a:rPr lang="en-US" sz="1400" dirty="0"/>
              <a:t>.</a:t>
            </a:r>
            <a:endParaRPr lang="en-IN" sz="14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21E315E8-A783-5821-2E79-83537E197D7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7314" y="3598203"/>
            <a:ext cx="5938987" cy="277463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9619409-2864-86E8-D9D6-B6ED7CE62990}"/>
              </a:ext>
            </a:extLst>
          </p:cNvPr>
          <p:cNvSpPr/>
          <p:nvPr/>
        </p:nvSpPr>
        <p:spPr>
          <a:xfrm>
            <a:off x="7413523" y="6161941"/>
            <a:ext cx="4760398" cy="19282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rgbClr val="FF0000"/>
                </a:solidFill>
                <a:latin typeface="Italic"/>
              </a:rPr>
              <a:t>Source: India Quantum Ecosystem Market Projection Report 2025.</a:t>
            </a:r>
            <a:endParaRPr lang="en-IN" sz="1200" dirty="0">
              <a:solidFill>
                <a:srgbClr val="FF0000"/>
              </a:solidFill>
              <a:latin typeface="Italic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02023" y="750234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203" name="Quad 203"/>
          <p:cNvSpPr txBox="1"/>
          <p:nvPr/>
        </p:nvSpPr>
        <p:spPr>
          <a:xfrm>
            <a:off x="423504" y="1993325"/>
            <a:ext cx="5449999" cy="1848233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20000"/>
          </a:bodyPr>
          <a:lstStyle/>
          <a:p>
            <a:r>
              <a:rPr lang="en-IN" sz="1900" b="1" dirty="0">
                <a:solidFill>
                  <a:srgbClr val="00B0F0"/>
                </a:solidFill>
              </a:rPr>
              <a:t>Academic Grounding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900" b="1" dirty="0">
              <a:solidFill>
                <a:srgbClr val="00B0F0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Curriculum syntax</a:t>
            </a:r>
            <a:r>
              <a:rPr lang="en-IN" sz="1600" dirty="0"/>
              <a:t> is cross-checked against the </a:t>
            </a:r>
            <a:r>
              <a:rPr lang="en-IN" sz="1600" b="1" dirty="0"/>
              <a:t>IBM Quantum Learning platform, Google Cirq and Xanadu PennyLane documentation</a:t>
            </a:r>
            <a:r>
              <a:rPr lang="en-IN" sz="16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The </a:t>
            </a:r>
            <a:r>
              <a:rPr lang="en-IN" sz="1600" b="1" dirty="0"/>
              <a:t>Ion-Trap optimization scorecard</a:t>
            </a:r>
            <a:r>
              <a:rPr lang="en-IN" sz="1600" dirty="0"/>
              <a:t> is grounded in real </a:t>
            </a:r>
            <a:r>
              <a:rPr lang="en-IN" sz="1600" b="1" dirty="0"/>
              <a:t>shuttling-limitation and Rydberg-coupling constraints</a:t>
            </a:r>
            <a:r>
              <a:rPr lang="en-IN" sz="16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AI regional-language analogies</a:t>
            </a:r>
            <a:r>
              <a:rPr lang="en-IN" sz="1600" dirty="0"/>
              <a:t> are RAG-grounded over course material to reduce </a:t>
            </a:r>
            <a:r>
              <a:rPr lang="en-IN" sz="1600" b="1" dirty="0"/>
              <a:t>hallucination risk</a:t>
            </a:r>
            <a:r>
              <a:rPr lang="en-IN" sz="1600" dirty="0"/>
              <a:t>.</a:t>
            </a:r>
          </a:p>
        </p:txBody>
      </p:sp>
      <p:sp>
        <p:nvSpPr>
          <p:cNvPr id="204" name="Quad 204"/>
          <p:cNvSpPr txBox="1"/>
          <p:nvPr/>
        </p:nvSpPr>
        <p:spPr>
          <a:xfrm>
            <a:off x="6273984" y="1908232"/>
            <a:ext cx="5718319" cy="19333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25000" lnSpcReduction="20000"/>
          </a:bodyPr>
          <a:lstStyle/>
          <a:p>
            <a:r>
              <a:rPr lang="en-IN" sz="4900" b="1" dirty="0">
                <a:solidFill>
                  <a:srgbClr val="00B0F0"/>
                </a:solidFill>
              </a:rPr>
              <a:t>Tools &amp; APIs Used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6000" b="1" dirty="0" err="1"/>
              <a:t>Groq</a:t>
            </a:r>
            <a:r>
              <a:rPr lang="en-IN" sz="6000" b="1" dirty="0"/>
              <a:t> endpoints running Llama 3.3 70B</a:t>
            </a:r>
            <a:r>
              <a:rPr lang="en-IN" sz="6000" dirty="0"/>
              <a:t> — RAG-based regional-language remediation.</a:t>
            </a:r>
            <a:br>
              <a:rPr lang="en-IN" sz="6000" dirty="0"/>
            </a:br>
            <a:r>
              <a:rPr lang="en-IN" sz="6000" b="1" dirty="0"/>
              <a:t>groq.com</a:t>
            </a:r>
            <a:r>
              <a:rPr lang="en-IN" sz="6000" dirty="0"/>
              <a:t>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6000" b="1" dirty="0"/>
              <a:t>Apache Kafka</a:t>
            </a:r>
            <a:r>
              <a:rPr lang="en-IN" sz="6000" dirty="0"/>
              <a:t> — transaction log &amp; telemetry streaming for the worker cluster.</a:t>
            </a:r>
            <a:br>
              <a:rPr lang="en-IN" sz="6000" dirty="0"/>
            </a:br>
            <a:r>
              <a:rPr lang="en-IN" sz="6000" b="1" dirty="0"/>
              <a:t>kafka.apache.org</a:t>
            </a:r>
            <a:r>
              <a:rPr lang="en-IN" sz="6000" dirty="0"/>
              <a:t>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6000" b="1" dirty="0"/>
              <a:t>Spring Boot (Java 21) &amp; React 18 / TypeScript</a:t>
            </a:r>
            <a:r>
              <a:rPr lang="en-IN" sz="6000" dirty="0"/>
              <a:t> — gateway and sandbox front end.</a:t>
            </a:r>
            <a:br>
              <a:rPr lang="en-IN" sz="6000" dirty="0"/>
            </a:br>
            <a:r>
              <a:rPr lang="en-IN" sz="6000" b="1" dirty="0"/>
              <a:t>spring.io/projects/spring-boot · </a:t>
            </a:r>
            <a:r>
              <a:rPr lang="en-IN" sz="6000" b="1" dirty="0" err="1"/>
              <a:t>react.dev</a:t>
            </a:r>
            <a:endParaRPr lang="en-IN" sz="6000" dirty="0"/>
          </a:p>
        </p:txBody>
      </p:sp>
      <p:sp>
        <p:nvSpPr>
          <p:cNvPr id="205" name="Quad 205"/>
          <p:cNvSpPr txBox="1"/>
          <p:nvPr/>
        </p:nvSpPr>
        <p:spPr>
          <a:xfrm>
            <a:off x="502023" y="4116108"/>
            <a:ext cx="5415994" cy="21021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70000" lnSpcReduction="20000"/>
          </a:bodyPr>
          <a:lstStyle/>
          <a:p>
            <a:r>
              <a:rPr lang="en-IN" sz="2300" b="1" dirty="0">
                <a:solidFill>
                  <a:srgbClr val="00B0F0"/>
                </a:solidFill>
              </a:rPr>
              <a:t>Technical References</a:t>
            </a:r>
          </a:p>
          <a:p>
            <a:endParaRPr lang="en-IN" sz="2300" b="1" dirty="0">
              <a:solidFill>
                <a:srgbClr val="00B0F0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900" b="1" dirty="0" err="1"/>
              <a:t>Qiskit</a:t>
            </a:r>
            <a:r>
              <a:rPr lang="en-IN" sz="1900" b="1" dirty="0"/>
              <a:t> Aer, Cirq &amp; PennyLane</a:t>
            </a:r>
            <a:r>
              <a:rPr lang="en-IN" sz="1900" dirty="0"/>
              <a:t> — multi-backend simulation and state-vector visualization engines. </a:t>
            </a:r>
            <a:r>
              <a:rPr lang="en-IN" sz="1900" b="1" dirty="0" err="1"/>
              <a:t>quantu</a:t>
            </a:r>
            <a:br>
              <a:rPr lang="en-IN" sz="1900" dirty="0"/>
            </a:br>
            <a:r>
              <a:rPr lang="en-IN" sz="1900" b="1" dirty="0"/>
              <a:t>m.cloud.ibm.com/docs · </a:t>
            </a:r>
            <a:r>
              <a:rPr lang="en-IN" sz="1900" b="1" dirty="0" err="1"/>
              <a:t>quantumai.google</a:t>
            </a:r>
            <a:r>
              <a:rPr lang="en-IN" sz="1900" b="1" dirty="0"/>
              <a:t>/</a:t>
            </a:r>
            <a:r>
              <a:rPr lang="en-IN" sz="1900" b="1" dirty="0" err="1"/>
              <a:t>cirq</a:t>
            </a:r>
            <a:r>
              <a:rPr lang="en-IN" sz="1900" b="1" dirty="0"/>
              <a:t> · docs.pennylane.ai</a:t>
            </a:r>
            <a:r>
              <a:rPr lang="en-IN" sz="19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900" b="1" dirty="0" err="1"/>
              <a:t>OpenQASM</a:t>
            </a:r>
            <a:r>
              <a:rPr lang="en-IN" sz="1900" b="1" dirty="0"/>
              <a:t> 3.0</a:t>
            </a:r>
            <a:r>
              <a:rPr lang="en-IN" sz="1900" dirty="0"/>
              <a:t> — unified intermediate representation generated by the ANTLR </a:t>
            </a:r>
            <a:r>
              <a:rPr lang="en-IN" sz="1900" dirty="0" err="1"/>
              <a:t>transpiler</a:t>
            </a:r>
            <a:r>
              <a:rPr lang="en-IN" sz="1900" dirty="0"/>
              <a:t>.</a:t>
            </a:r>
            <a:br>
              <a:rPr lang="en-IN" sz="1900" dirty="0"/>
            </a:br>
            <a:r>
              <a:rPr lang="en-IN" sz="1900" b="1" dirty="0"/>
              <a:t>openqasm.com</a:t>
            </a:r>
            <a:r>
              <a:rPr lang="en-IN" sz="19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900" b="1" dirty="0"/>
              <a:t>IBM Quantum Learning, Google Cirq &amp; Xanadu PennyLane guidelines</a:t>
            </a:r>
            <a:r>
              <a:rPr lang="en-IN" sz="1900" dirty="0"/>
              <a:t> — used for curriculum syntax validation.</a:t>
            </a:r>
          </a:p>
        </p:txBody>
      </p:sp>
      <p:sp>
        <p:nvSpPr>
          <p:cNvPr id="207" name="Quad 207"/>
          <p:cNvSpPr txBox="1"/>
          <p:nvPr/>
        </p:nvSpPr>
        <p:spPr>
          <a:xfrm>
            <a:off x="468017" y="4674432"/>
            <a:ext cx="5450000" cy="139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endParaRPr lang="en-US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/>
              <a:t>Cognitive </a:t>
            </a:r>
            <a:r>
              <a:rPr lang="en-US" sz="1200" dirty="0"/>
              <a:t>crew</a:t>
            </a:r>
            <a:endParaRPr lang="en-IN" sz="1200" dirty="0"/>
          </a:p>
        </p:txBody>
      </p:sp>
      <p:grpSp>
        <p:nvGrpSpPr>
          <p:cNvPr id="11" name="Group 10"/>
          <p:cNvGrpSpPr/>
          <p:nvPr/>
        </p:nvGrpSpPr>
        <p:grpSpPr>
          <a:xfrm>
            <a:off x="2353950" y="126177"/>
            <a:ext cx="7877185" cy="695623"/>
            <a:chOff x="651732" y="38165"/>
            <a:chExt cx="10694324" cy="870393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4833" y="87954"/>
              <a:ext cx="1721223" cy="812729"/>
            </a:xfrm>
            <a:prstGeom prst="rect">
              <a:avLst/>
            </a:prstGeom>
          </p:spPr>
        </p:pic>
        <p:pic>
          <p:nvPicPr>
            <p:cNvPr id="14" name="Google Shape;212;p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51732" y="87954"/>
              <a:ext cx="792644" cy="8206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213;p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040692" y="83807"/>
              <a:ext cx="1033387" cy="794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214;p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756558" y="57696"/>
              <a:ext cx="925995" cy="846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215;p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580745" y="75683"/>
              <a:ext cx="1030509" cy="8022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Picture 2" descr="C:\Users\RVR\Downloads\IICLogo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70376" y="38165"/>
              <a:ext cx="1880082" cy="813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2B6DE4E-D455-EF36-5775-1B5917EF434D}"/>
              </a:ext>
            </a:extLst>
          </p:cNvPr>
          <p:cNvSpPr txBox="1"/>
          <p:nvPr/>
        </p:nvSpPr>
        <p:spPr>
          <a:xfrm>
            <a:off x="6273984" y="4406438"/>
            <a:ext cx="591801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rgbClr val="00B0F0"/>
                </a:solidFill>
              </a:rPr>
              <a:t>Note</a:t>
            </a:r>
          </a:p>
          <a:p>
            <a:pPr>
              <a:buNone/>
            </a:pPr>
            <a:r>
              <a:rPr lang="en-IN" sz="1600" dirty="0"/>
              <a:t>Links above point to each tool’s </a:t>
            </a:r>
            <a:r>
              <a:rPr lang="en-IN" sz="1600" b="1" dirty="0"/>
              <a:t>official documentation home page</a:t>
            </a:r>
            <a:r>
              <a:rPr lang="en-IN" sz="1600" dirty="0"/>
              <a:t>, not a version-specific page, since SDKs update frequently.</a:t>
            </a:r>
          </a:p>
          <a:p>
            <a:pPr>
              <a:buNone/>
            </a:pPr>
            <a:r>
              <a:rPr lang="en-IN" sz="1600" dirty="0"/>
              <a:t>Figures and technical claims reflect the team’s own design and these publicly documented capabilities as of submission.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07F9D46-1004-88DC-384F-DCA1DD573335}"/>
              </a:ext>
            </a:extLst>
          </p:cNvPr>
          <p:cNvCxnSpPr>
            <a:cxnSpLocks/>
          </p:cNvCxnSpPr>
          <p:nvPr/>
        </p:nvCxnSpPr>
        <p:spPr>
          <a:xfrm>
            <a:off x="6006424" y="1740310"/>
            <a:ext cx="25699" cy="4568733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BEDB800-1AC3-C000-7CCC-C76725AE3D97}"/>
              </a:ext>
            </a:extLst>
          </p:cNvPr>
          <p:cNvCxnSpPr>
            <a:cxnSpLocks/>
          </p:cNvCxnSpPr>
          <p:nvPr/>
        </p:nvCxnSpPr>
        <p:spPr>
          <a:xfrm flipV="1">
            <a:off x="329773" y="3916770"/>
            <a:ext cx="11568799" cy="49756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2933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7908</TotalTime>
  <Words>1151</Words>
  <Application>Microsoft Office PowerPoint</Application>
  <PresentationFormat>Widescreen</PresentationFormat>
  <Paragraphs>115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Italic</vt:lpstr>
      <vt:lpstr>Times New Roman</vt:lpstr>
      <vt:lpstr>TradeGothic</vt:lpstr>
      <vt:lpstr>Office Theme</vt:lpstr>
      <vt:lpstr>SMART INDIA HACKATHON 2026</vt:lpstr>
      <vt:lpstr> Qurio— Hardware-Aware Intelligent Quantum Workspace</vt:lpstr>
      <vt:lpstr>TECHNICAL APPROACH</vt:lpstr>
      <vt:lpstr>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Saipavan Pabba</cp:lastModifiedBy>
  <cp:revision>157</cp:revision>
  <dcterms:created xsi:type="dcterms:W3CDTF">2013-12-12T18:46:50Z</dcterms:created>
  <dcterms:modified xsi:type="dcterms:W3CDTF">2026-09-05T15:15:51Z</dcterms:modified>
</cp:coreProperties>
</file>